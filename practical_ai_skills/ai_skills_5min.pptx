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give you a quick five-minute overview of how AI tools can help you in your daily work. No technical skills needed — if you can type a message, you can use AI. Let's jump right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basic idea. You write a prompt, which is just plain language describing what you need. The AI processes it and gives you a result. The key takeaway: the more specific you are, the better the output. You can use Claude, ChatGPT, Copilot, or Gemini — they all work similarly.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create custom images in seconds — no more searching stock photos. Just describe the style, colors, and subject. Always add “no text” since AI often garbles words. For presentations, tell it your audience and how many slides you need, and you get a complete outline with content and visual ideas. You can even paste an existing document and ask AI to convert it into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the most popular AI use cases. For emails, the secret is including specific details: the person's name, what happened, what you want to offer. The more details, the less editing. Always mention the tone you want. For data tasks, ask for a specific format like a table or CSV. You can also upload files directly to Claude or ChatGPT for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amazing at summarizing. Instead of just saying 'summarize this', ask for a specific structure: summary, key findings, next steps. For meetings, paste your notes and get action items with owners and deadlines. For automations, describe your spreadsheet and what you want — AI gives you the exact formula. It can also create reusable email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takeaway. The formula: Role plus Task plus Context plus Format plus Constraints. Six quick tips: Be specific. Define your audience. Set the format. Give context. Set constraints like word count or tone. And most importantly, iterate! If it's not perfect, just ask for changes — you don't need to start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cheat sheet you can screenshot or save. Seven one-liner prompts for the most common tasks. Just fill in the brackets with your own details. These work with any AI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that's it! The most important thing: just start. There are no wrong prompts. Every time you try, you get better. We have a full guide and cheat sheet you can download with all the examples.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16213E">
              <a:alpha val="50000"/>
            </a:srgbClr>
          </a:solidFill>
          <a:ln/>
        </p:spPr>
      </p:sp>
      <p:sp>
        <p:nvSpPr>
          <p:cNvPr id="3" name="Shape 1"/>
          <p:cNvSpPr/>
          <p:nvPr/>
        </p:nvSpPr>
        <p:spPr>
          <a:xfrm>
            <a:off x="5943600" y="2743200"/>
            <a:ext cx="4572000" cy="4572000"/>
          </a:xfrm>
          <a:prstGeom prst="ellipse">
            <a:avLst/>
          </a:prstGeom>
          <a:solidFill>
            <a:srgbClr val="0D9488">
              <a:alpha val="30000"/>
            </a:srgbClr>
          </a:solidFill>
          <a:ln/>
        </p:spPr>
      </p:sp>
      <p:sp>
        <p:nvSpPr>
          <p:cNvPr id="4" name="Text 2"/>
          <p:cNvSpPr/>
          <p:nvPr/>
        </p:nvSpPr>
        <p:spPr>
          <a:xfrm>
            <a:off x="731520" y="1097280"/>
            <a:ext cx="7680960" cy="118872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Practical AI Skills</a:t>
            </a:r>
            <a:endParaRPr lang="en-US" sz="4800" dirty="0"/>
          </a:p>
        </p:txBody>
      </p:sp>
      <p:sp>
        <p:nvSpPr>
          <p:cNvPr id="5" name="Text 3"/>
          <p:cNvSpPr/>
          <p:nvPr/>
        </p:nvSpPr>
        <p:spPr>
          <a:xfrm>
            <a:off x="1371600" y="2286000"/>
            <a:ext cx="6400800" cy="640080"/>
          </a:xfrm>
          <a:prstGeom prst="rect">
            <a:avLst/>
          </a:prstGeom>
          <a:noFill/>
          <a:ln/>
        </p:spPr>
        <p:txBody>
          <a:bodyPr wrap="square" rtlCol="0" anchor="ctr"/>
          <a:lstStyle/>
          <a:p>
            <a:pPr algn="ctr" indent="0" marL="0">
              <a:buNone/>
            </a:pPr>
            <a:r>
              <a:rPr lang="en-US" sz="2200" dirty="0">
                <a:solidFill>
                  <a:srgbClr val="14B8A6"/>
                </a:solidFill>
                <a:latin typeface="Calibri" pitchFamily="34" charset="0"/>
                <a:ea typeface="Calibri" pitchFamily="34" charset="-122"/>
                <a:cs typeface="Calibri" pitchFamily="34" charset="-120"/>
              </a:rPr>
              <a:t>A 5-Minute Introduction</a:t>
            </a:r>
            <a:endParaRPr lang="en-US" sz="2200" dirty="0"/>
          </a:p>
        </p:txBody>
      </p:sp>
      <p:sp>
        <p:nvSpPr>
          <p:cNvPr id="6" name="Text 4"/>
          <p:cNvSpPr/>
          <p:nvPr/>
        </p:nvSpPr>
        <p:spPr>
          <a:xfrm>
            <a:off x="1371600" y="3108960"/>
            <a:ext cx="6400800" cy="457200"/>
          </a:xfrm>
          <a:prstGeom prst="rect">
            <a:avLst/>
          </a:prstGeom>
          <a:noFill/>
          <a:ln/>
        </p:spPr>
        <p:txBody>
          <a:bodyPr wrap="square" rtlCol="0" anchor="ctr"/>
          <a:lstStyle/>
          <a:p>
            <a:pPr algn="ctr" indent="0" marL="0">
              <a:buNone/>
            </a:pPr>
            <a:r>
              <a:rPr lang="en-US" sz="1400" dirty="0">
                <a:solidFill>
                  <a:srgbClr val="64748B"/>
                </a:solidFill>
                <a:latin typeface="Calibri" pitchFamily="34" charset="0"/>
                <a:ea typeface="Calibri" pitchFamily="34" charset="-122"/>
                <a:cs typeface="Calibri" pitchFamily="34" charset="-120"/>
              </a:rPr>
              <a:t>Use AI tools for everyday tasks — no coding required</a:t>
            </a:r>
            <a:endParaRPr lang="en-US" sz="1400" dirty="0"/>
          </a:p>
        </p:txBody>
      </p:sp>
      <p:pic>
        <p:nvPicPr>
          <p:cNvPr id="7" name="Image 0" descr="preencoded.png">    </p:cNvPr>
          <p:cNvPicPr>
            <a:picLocks noChangeAspect="1"/>
          </p:cNvPicPr>
          <p:nvPr/>
        </p:nvPicPr>
        <p:blipFill>
          <a:blip r:embed="rId1"/>
          <a:stretch>
            <a:fillRect/>
          </a:stretch>
        </p:blipFill>
        <p:spPr>
          <a:xfrm>
            <a:off x="4160520" y="3749040"/>
            <a:ext cx="822960" cy="822960"/>
          </a:xfrm>
          <a:prstGeom prst="rect">
            <a:avLst/>
          </a:prstGeom>
        </p:spPr>
      </p:pic>
      <p:sp>
        <p:nvSpPr>
          <p:cNvPr id="9" name="Text 5"/>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1 / 8</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74320"/>
            <a:ext cx="8229600" cy="640080"/>
          </a:xfrm>
          <a:prstGeom prst="rect">
            <a:avLst/>
          </a:prstGeom>
          <a:noFill/>
          <a:ln/>
        </p:spPr>
        <p:txBody>
          <a:bodyPr wrap="square" lIns="0" tIns="0" rIns="0" bIns="0" rtlCol="0" anchor="ctr"/>
          <a:lstStyle/>
          <a:p>
            <a:pPr indent="0" marL="0">
              <a:buNone/>
            </a:pPr>
            <a:r>
              <a:rPr lang="en-US" sz="3200" b="1" dirty="0">
                <a:solidFill>
                  <a:srgbClr val="16213E"/>
                </a:solidFill>
                <a:latin typeface="Georgia" pitchFamily="34" charset="0"/>
                <a:ea typeface="Georgia" pitchFamily="34" charset="-122"/>
                <a:cs typeface="Georgia" pitchFamily="34" charset="-120"/>
              </a:rPr>
              <a:t>How Does AI Chat Work?</a:t>
            </a:r>
            <a:endParaRPr lang="en-US" sz="3200" dirty="0"/>
          </a:p>
        </p:txBody>
      </p:sp>
      <p:sp>
        <p:nvSpPr>
          <p:cNvPr id="4" name="Text 2"/>
          <p:cNvSpPr/>
          <p:nvPr/>
        </p:nvSpPr>
        <p:spPr>
          <a:xfrm>
            <a:off x="457200" y="1005840"/>
            <a:ext cx="8229600" cy="640080"/>
          </a:xfrm>
          <a:prstGeom prst="rect">
            <a:avLst/>
          </a:prstGeom>
          <a:noFill/>
          <a:ln/>
        </p:spPr>
        <p:txBody>
          <a:bodyPr wrap="square" rtlCol="0" anchor="ctr"/>
          <a:lstStyle/>
          <a:p>
            <a:pPr indent="0" marL="0">
              <a:buNone/>
            </a:pPr>
            <a:r>
              <a:rPr lang="en-US" sz="1400" dirty="0">
                <a:solidFill>
                  <a:srgbClr val="334155"/>
                </a:solidFill>
                <a:latin typeface="Calibri" pitchFamily="34" charset="0"/>
                <a:ea typeface="Calibri" pitchFamily="34" charset="-122"/>
                <a:cs typeface="Calibri" pitchFamily="34" charset="-120"/>
              </a:rPr>
              <a:t>Think of AI as a very smart assistant. You give it instructions (a “prompt”), and it gives you a response. The better your instructions, the better the result.</a:t>
            </a:r>
            <a:endParaRPr lang="en-US" sz="1400" dirty="0"/>
          </a:p>
        </p:txBody>
      </p:sp>
      <p:sp>
        <p:nvSpPr>
          <p:cNvPr id="5" name="Shape 3"/>
          <p:cNvSpPr/>
          <p:nvPr/>
        </p:nvSpPr>
        <p:spPr>
          <a:xfrm>
            <a:off x="457200" y="1920240"/>
            <a:ext cx="25603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6" name="Shape 4"/>
          <p:cNvSpPr/>
          <p:nvPr/>
        </p:nvSpPr>
        <p:spPr>
          <a:xfrm>
            <a:off x="1417320" y="2103120"/>
            <a:ext cx="640080" cy="640080"/>
          </a:xfrm>
          <a:prstGeom prst="ellipse">
            <a:avLst/>
          </a:prstGeom>
          <a:solidFill>
            <a:srgbClr val="0D9488"/>
          </a:solidFill>
          <a:ln/>
        </p:spPr>
      </p:sp>
      <p:sp>
        <p:nvSpPr>
          <p:cNvPr id="7" name="Text 5"/>
          <p:cNvSpPr/>
          <p:nvPr/>
        </p:nvSpPr>
        <p:spPr>
          <a:xfrm>
            <a:off x="141732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Text 6"/>
          <p:cNvSpPr/>
          <p:nvPr/>
        </p:nvSpPr>
        <p:spPr>
          <a:xfrm>
            <a:off x="640080" y="2880360"/>
            <a:ext cx="2194560" cy="45720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You Write a Prompt</a:t>
            </a:r>
            <a:endParaRPr lang="en-US" sz="1400" dirty="0"/>
          </a:p>
        </p:txBody>
      </p:sp>
      <p:sp>
        <p:nvSpPr>
          <p:cNvPr id="9" name="Text 7"/>
          <p:cNvSpPr/>
          <p:nvPr/>
        </p:nvSpPr>
        <p:spPr>
          <a:xfrm>
            <a:off x="640080" y="3291840"/>
            <a:ext cx="219456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Describe what you need in plain language</a:t>
            </a:r>
            <a:endParaRPr lang="en-US" sz="1200" dirty="0"/>
          </a:p>
        </p:txBody>
      </p:sp>
      <p:sp>
        <p:nvSpPr>
          <p:cNvPr id="10" name="Shape 8"/>
          <p:cNvSpPr/>
          <p:nvPr/>
        </p:nvSpPr>
        <p:spPr>
          <a:xfrm>
            <a:off x="3291840" y="1920240"/>
            <a:ext cx="25603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1" name="Shape 9"/>
          <p:cNvSpPr/>
          <p:nvPr/>
        </p:nvSpPr>
        <p:spPr>
          <a:xfrm>
            <a:off x="4251960" y="2103120"/>
            <a:ext cx="640080" cy="640080"/>
          </a:xfrm>
          <a:prstGeom prst="ellipse">
            <a:avLst/>
          </a:prstGeom>
          <a:solidFill>
            <a:srgbClr val="0D9488"/>
          </a:solidFill>
          <a:ln/>
        </p:spPr>
      </p:sp>
      <p:sp>
        <p:nvSpPr>
          <p:cNvPr id="12" name="Text 10"/>
          <p:cNvSpPr/>
          <p:nvPr/>
        </p:nvSpPr>
        <p:spPr>
          <a:xfrm>
            <a:off x="425196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3" name="Text 11"/>
          <p:cNvSpPr/>
          <p:nvPr/>
        </p:nvSpPr>
        <p:spPr>
          <a:xfrm>
            <a:off x="3474720" y="2880360"/>
            <a:ext cx="2194560" cy="45720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AI Processes It</a:t>
            </a:r>
            <a:endParaRPr lang="en-US" sz="1400" dirty="0"/>
          </a:p>
        </p:txBody>
      </p:sp>
      <p:sp>
        <p:nvSpPr>
          <p:cNvPr id="14" name="Text 12"/>
          <p:cNvSpPr/>
          <p:nvPr/>
        </p:nvSpPr>
        <p:spPr>
          <a:xfrm>
            <a:off x="3474720" y="3291840"/>
            <a:ext cx="219456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It understands context, intent, and details</a:t>
            </a:r>
            <a:endParaRPr lang="en-US" sz="1200" dirty="0"/>
          </a:p>
        </p:txBody>
      </p:sp>
      <p:sp>
        <p:nvSpPr>
          <p:cNvPr id="15" name="Shape 13"/>
          <p:cNvSpPr/>
          <p:nvPr/>
        </p:nvSpPr>
        <p:spPr>
          <a:xfrm>
            <a:off x="6126480" y="1920240"/>
            <a:ext cx="2560320" cy="201168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6" name="Shape 14"/>
          <p:cNvSpPr/>
          <p:nvPr/>
        </p:nvSpPr>
        <p:spPr>
          <a:xfrm>
            <a:off x="7086600" y="2103120"/>
            <a:ext cx="640080" cy="640080"/>
          </a:xfrm>
          <a:prstGeom prst="ellipse">
            <a:avLst/>
          </a:prstGeom>
          <a:solidFill>
            <a:srgbClr val="0D9488"/>
          </a:solidFill>
          <a:ln/>
        </p:spPr>
      </p:sp>
      <p:sp>
        <p:nvSpPr>
          <p:cNvPr id="17" name="Text 15"/>
          <p:cNvSpPr/>
          <p:nvPr/>
        </p:nvSpPr>
        <p:spPr>
          <a:xfrm>
            <a:off x="7086600" y="2103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18" name="Text 16"/>
          <p:cNvSpPr/>
          <p:nvPr/>
        </p:nvSpPr>
        <p:spPr>
          <a:xfrm>
            <a:off x="6309360" y="2880360"/>
            <a:ext cx="2194560" cy="457200"/>
          </a:xfrm>
          <a:prstGeom prst="rect">
            <a:avLst/>
          </a:prstGeom>
          <a:noFill/>
          <a:ln/>
        </p:spPr>
        <p:txBody>
          <a:bodyPr wrap="square" lIns="0" tIns="0" rIns="0" bIns="0"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You Get a Result</a:t>
            </a:r>
            <a:endParaRPr lang="en-US" sz="1400" dirty="0"/>
          </a:p>
        </p:txBody>
      </p:sp>
      <p:sp>
        <p:nvSpPr>
          <p:cNvPr id="19" name="Text 17"/>
          <p:cNvSpPr/>
          <p:nvPr/>
        </p:nvSpPr>
        <p:spPr>
          <a:xfrm>
            <a:off x="6309360" y="3291840"/>
            <a:ext cx="2194560" cy="457200"/>
          </a:xfrm>
          <a:prstGeom prst="rect">
            <a:avLst/>
          </a:prstGeom>
          <a:noFill/>
          <a:ln/>
        </p:spPr>
        <p:txBody>
          <a:bodyPr wrap="square" lIns="0" tIns="0" rIns="0" bIns="0"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Text, data, ideas, or formatted content</a:t>
            </a:r>
            <a:endParaRPr lang="en-US" sz="1200" dirty="0"/>
          </a:p>
        </p:txBody>
      </p:sp>
      <p:pic>
        <p:nvPicPr>
          <p:cNvPr id="20" name="Image 0" descr="preencoded.png">    </p:cNvPr>
          <p:cNvPicPr>
            <a:picLocks noChangeAspect="1"/>
          </p:cNvPicPr>
          <p:nvPr/>
        </p:nvPicPr>
        <p:blipFill>
          <a:blip r:embed="rId1"/>
          <a:stretch>
            <a:fillRect/>
          </a:stretch>
        </p:blipFill>
        <p:spPr>
          <a:xfrm>
            <a:off x="2788920" y="2651760"/>
            <a:ext cx="320040" cy="320040"/>
          </a:xfrm>
          <a:prstGeom prst="rect">
            <a:avLst/>
          </a:prstGeom>
        </p:spPr>
      </p:pic>
      <p:pic>
        <p:nvPicPr>
          <p:cNvPr id="21" name="Image 1" descr="preencoded.png">    </p:cNvPr>
          <p:cNvPicPr>
            <a:picLocks noChangeAspect="1"/>
          </p:cNvPicPr>
          <p:nvPr/>
        </p:nvPicPr>
        <p:blipFill>
          <a:blip r:embed="rId2"/>
          <a:stretch>
            <a:fillRect/>
          </a:stretch>
        </p:blipFill>
        <p:spPr>
          <a:xfrm>
            <a:off x="5623560" y="2651760"/>
            <a:ext cx="320040" cy="320040"/>
          </a:xfrm>
          <a:prstGeom prst="rect">
            <a:avLst/>
          </a:prstGeom>
        </p:spPr>
      </p:pic>
      <p:sp>
        <p:nvSpPr>
          <p:cNvPr id="22" name="Text 18"/>
          <p:cNvSpPr/>
          <p:nvPr/>
        </p:nvSpPr>
        <p:spPr>
          <a:xfrm>
            <a:off x="457200" y="4206240"/>
            <a:ext cx="8229600" cy="36576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Popular AI Tools: Claude (claude.ai)  •  ChatGPT  •  Microsoft Copilot  •  Google Gemini</a:t>
            </a:r>
            <a:endParaRPr lang="en-US" sz="1100" dirty="0"/>
          </a:p>
        </p:txBody>
      </p:sp>
      <p:sp>
        <p:nvSpPr>
          <p:cNvPr id="24" name="Text 19"/>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Create Images &amp; Presentations</a:t>
            </a:r>
            <a:endParaRPr lang="en-US" sz="2800" dirty="0"/>
          </a:p>
        </p:txBody>
      </p:sp>
      <p:sp>
        <p:nvSpPr>
          <p:cNvPr id="4" name="Shape 2"/>
          <p:cNvSpPr/>
          <p:nvPr/>
        </p:nvSpPr>
        <p:spPr>
          <a:xfrm>
            <a:off x="457200" y="91440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14400"/>
            <a:ext cx="64008" cy="1828800"/>
          </a:xfrm>
          <a:prstGeom prst="rect">
            <a:avLst/>
          </a:prstGeom>
          <a:solidFill>
            <a:srgbClr val="0D9488"/>
          </a:solidFill>
          <a:ln/>
        </p:spPr>
      </p:sp>
      <p:pic>
        <p:nvPicPr>
          <p:cNvPr id="6" name="Image 0" descr="preencoded.png">    </p:cNvPr>
          <p:cNvPicPr>
            <a:picLocks noChangeAspect="1"/>
          </p:cNvPicPr>
          <p:nvPr/>
        </p:nvPicPr>
        <p:blipFill>
          <a:blip r:embed="rId1"/>
          <a:stretch>
            <a:fillRect/>
          </a:stretch>
        </p:blipFill>
        <p:spPr>
          <a:xfrm>
            <a:off x="685800" y="1005840"/>
            <a:ext cx="365760" cy="365760"/>
          </a:xfrm>
          <a:prstGeom prst="rect">
            <a:avLst/>
          </a:prstGeom>
        </p:spPr>
      </p:pic>
      <p:sp>
        <p:nvSpPr>
          <p:cNvPr id="7" name="Text 4"/>
          <p:cNvSpPr/>
          <p:nvPr/>
        </p:nvSpPr>
        <p:spPr>
          <a:xfrm>
            <a:off x="1143000" y="1005840"/>
            <a:ext cx="3017520" cy="36576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Images for Slides</a:t>
            </a:r>
            <a:endParaRPr lang="en-US" sz="1400" dirty="0"/>
          </a:p>
        </p:txBody>
      </p:sp>
      <p:sp>
        <p:nvSpPr>
          <p:cNvPr id="8" name="Text 5"/>
          <p:cNvSpPr/>
          <p:nvPr/>
        </p:nvSpPr>
        <p:spPr>
          <a:xfrm>
            <a:off x="685800" y="1417320"/>
            <a:ext cx="3474720" cy="10972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“Create a professional illustration for a presentation about teamwork. Modern flat design, blue and white tones, 4 people around a table. No text.”</a:t>
            </a:r>
            <a:endParaRPr lang="en-US" sz="1100" dirty="0"/>
          </a:p>
        </p:txBody>
      </p:sp>
      <p:sp>
        <p:nvSpPr>
          <p:cNvPr id="9" name="Shape 6"/>
          <p:cNvSpPr/>
          <p:nvPr/>
        </p:nvSpPr>
        <p:spPr>
          <a:xfrm>
            <a:off x="4754880" y="91440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754880" y="914400"/>
            <a:ext cx="64008" cy="1828800"/>
          </a:xfrm>
          <a:prstGeom prst="rect">
            <a:avLst/>
          </a:prstGeom>
          <a:solidFill>
            <a:srgbClr val="F59E0B"/>
          </a:solidFill>
          <a:ln/>
        </p:spPr>
      </p:sp>
      <p:pic>
        <p:nvPicPr>
          <p:cNvPr id="11" name="Image 1" descr="preencoded.png">    </p:cNvPr>
          <p:cNvPicPr>
            <a:picLocks noChangeAspect="1"/>
          </p:cNvPicPr>
          <p:nvPr/>
        </p:nvPicPr>
        <p:blipFill>
          <a:blip r:embed="rId2"/>
          <a:stretch>
            <a:fillRect/>
          </a:stretch>
        </p:blipFill>
        <p:spPr>
          <a:xfrm>
            <a:off x="4983480" y="1005840"/>
            <a:ext cx="365760" cy="365760"/>
          </a:xfrm>
          <a:prstGeom prst="rect">
            <a:avLst/>
          </a:prstGeom>
        </p:spPr>
      </p:pic>
      <p:sp>
        <p:nvSpPr>
          <p:cNvPr id="12" name="Text 8"/>
          <p:cNvSpPr/>
          <p:nvPr/>
        </p:nvSpPr>
        <p:spPr>
          <a:xfrm>
            <a:off x="5440680" y="1005840"/>
            <a:ext cx="3017520" cy="36576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Full Presentation Outline</a:t>
            </a:r>
            <a:endParaRPr lang="en-US" sz="1400" dirty="0"/>
          </a:p>
        </p:txBody>
      </p:sp>
      <p:sp>
        <p:nvSpPr>
          <p:cNvPr id="13" name="Text 9"/>
          <p:cNvSpPr/>
          <p:nvPr/>
        </p:nvSpPr>
        <p:spPr>
          <a:xfrm>
            <a:off x="4983480" y="1417320"/>
            <a:ext cx="3474720" cy="10972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“Create a 6-slide presentation about Remote Work Best Practices for non-technical managers. Give me titles, 3 bullet points per slide, and visual suggestions.”</a:t>
            </a:r>
            <a:endParaRPr lang="en-US" sz="1100" dirty="0"/>
          </a:p>
        </p:txBody>
      </p:sp>
      <p:sp>
        <p:nvSpPr>
          <p:cNvPr id="14" name="Shape 10"/>
          <p:cNvSpPr/>
          <p:nvPr/>
        </p:nvSpPr>
        <p:spPr>
          <a:xfrm>
            <a:off x="457200" y="3017520"/>
            <a:ext cx="8229600" cy="914400"/>
          </a:xfrm>
          <a:prstGeom prst="rect">
            <a:avLst/>
          </a:prstGeom>
          <a:solidFill>
            <a:srgbClr val="FEF9E7"/>
          </a:solidFill>
          <a:ln/>
        </p:spPr>
      </p:sp>
      <p:pic>
        <p:nvPicPr>
          <p:cNvPr id="15" name="Image 2" descr="preencoded.png">    </p:cNvPr>
          <p:cNvPicPr>
            <a:picLocks noChangeAspect="1"/>
          </p:cNvPicPr>
          <p:nvPr/>
        </p:nvPicPr>
        <p:blipFill>
          <a:blip r:embed="rId3"/>
          <a:stretch>
            <a:fillRect/>
          </a:stretch>
        </p:blipFill>
        <p:spPr>
          <a:xfrm>
            <a:off x="640080" y="3200400"/>
            <a:ext cx="274320" cy="274320"/>
          </a:xfrm>
          <a:prstGeom prst="rect">
            <a:avLst/>
          </a:prstGeom>
        </p:spPr>
      </p:pic>
      <p:sp>
        <p:nvSpPr>
          <p:cNvPr id="16" name="Text 11"/>
          <p:cNvSpPr/>
          <p:nvPr/>
        </p:nvSpPr>
        <p:spPr>
          <a:xfrm>
            <a:off x="1005840" y="3108960"/>
            <a:ext cx="7498080" cy="7315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Key tips: </a:t>
            </a:r>
            <a:pPr indent="0" marL="0">
              <a:buNone/>
            </a:pPr>
            <a:r>
              <a:rPr lang="en-US" sz="1200" dirty="0">
                <a:solidFill>
                  <a:srgbClr val="334155"/>
                </a:solidFill>
                <a:latin typeface="Calibri" pitchFamily="34" charset="0"/>
                <a:ea typeface="Calibri" pitchFamily="34" charset="-122"/>
                <a:cs typeface="Calibri" pitchFamily="34" charset="-120"/>
              </a:rPr>
              <a:t>Specify style &amp; colors for images. Say “no text” to avoid garbled words. Always mention your audience for presentations.</a:t>
            </a:r>
            <a:endParaRPr lang="en-US" sz="1200" dirty="0"/>
          </a:p>
        </p:txBody>
      </p:sp>
      <p:sp>
        <p:nvSpPr>
          <p:cNvPr id="18" name="Text 12"/>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Write Emails &amp; Organize Data</a:t>
            </a:r>
            <a:endParaRPr lang="en-US" sz="2800" dirty="0"/>
          </a:p>
        </p:txBody>
      </p:sp>
      <p:sp>
        <p:nvSpPr>
          <p:cNvPr id="4" name="Shape 2"/>
          <p:cNvSpPr/>
          <p:nvPr/>
        </p:nvSpPr>
        <p:spPr>
          <a:xfrm>
            <a:off x="457200" y="91440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14400"/>
            <a:ext cx="64008" cy="1828800"/>
          </a:xfrm>
          <a:prstGeom prst="rect">
            <a:avLst/>
          </a:prstGeom>
          <a:solidFill>
            <a:srgbClr val="E94560"/>
          </a:solidFill>
          <a:ln/>
        </p:spPr>
      </p:sp>
      <p:pic>
        <p:nvPicPr>
          <p:cNvPr id="6" name="Image 0" descr="preencoded.png">    </p:cNvPr>
          <p:cNvPicPr>
            <a:picLocks noChangeAspect="1"/>
          </p:cNvPicPr>
          <p:nvPr/>
        </p:nvPicPr>
        <p:blipFill>
          <a:blip r:embed="rId1"/>
          <a:stretch>
            <a:fillRect/>
          </a:stretch>
        </p:blipFill>
        <p:spPr>
          <a:xfrm>
            <a:off x="685800" y="1005840"/>
            <a:ext cx="365760" cy="365760"/>
          </a:xfrm>
          <a:prstGeom prst="rect">
            <a:avLst/>
          </a:prstGeom>
        </p:spPr>
      </p:pic>
      <p:sp>
        <p:nvSpPr>
          <p:cNvPr id="7" name="Text 4"/>
          <p:cNvSpPr/>
          <p:nvPr/>
        </p:nvSpPr>
        <p:spPr>
          <a:xfrm>
            <a:off x="1143000" y="1005840"/>
            <a:ext cx="3017520" cy="365760"/>
          </a:xfrm>
          <a:prstGeom prst="rect">
            <a:avLst/>
          </a:prstGeom>
          <a:noFill/>
          <a:ln/>
        </p:spPr>
        <p:txBody>
          <a:bodyPr wrap="square" lIns="0" tIns="0" rIns="0" bIns="0" rtlCol="0" anchor="ctr"/>
          <a:lstStyle/>
          <a:p>
            <a:pPr indent="0" marL="0">
              <a:buNone/>
            </a:pPr>
            <a:r>
              <a:rPr lang="en-US" sz="1400" b="1" dirty="0">
                <a:solidFill>
                  <a:srgbClr val="E94560"/>
                </a:solidFill>
                <a:latin typeface="Calibri" pitchFamily="34" charset="0"/>
                <a:ea typeface="Calibri" pitchFamily="34" charset="-122"/>
                <a:cs typeface="Calibri" pitchFamily="34" charset="-120"/>
              </a:rPr>
              <a:t>Professional Emails</a:t>
            </a:r>
            <a:endParaRPr lang="en-US" sz="1400" dirty="0"/>
          </a:p>
        </p:txBody>
      </p:sp>
      <p:sp>
        <p:nvSpPr>
          <p:cNvPr id="8" name="Text 5"/>
          <p:cNvSpPr/>
          <p:nvPr/>
        </p:nvSpPr>
        <p:spPr>
          <a:xfrm>
            <a:off x="685800" y="1417320"/>
            <a:ext cx="3474720" cy="10972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“Write a friendly email to a client named Maria. Her order arrived late and damaged. Apologize, offer a replacement and 15% discount. Under 120 words.”</a:t>
            </a:r>
            <a:endParaRPr lang="en-US" sz="1100" dirty="0"/>
          </a:p>
        </p:txBody>
      </p:sp>
      <p:sp>
        <p:nvSpPr>
          <p:cNvPr id="9" name="Shape 6"/>
          <p:cNvSpPr/>
          <p:nvPr/>
        </p:nvSpPr>
        <p:spPr>
          <a:xfrm>
            <a:off x="4754880" y="91440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7"/>
          <p:cNvSpPr/>
          <p:nvPr/>
        </p:nvSpPr>
        <p:spPr>
          <a:xfrm>
            <a:off x="4754880" y="914400"/>
            <a:ext cx="64008" cy="1828800"/>
          </a:xfrm>
          <a:prstGeom prst="rect">
            <a:avLst/>
          </a:prstGeom>
          <a:solidFill>
            <a:srgbClr val="0D9488"/>
          </a:solidFill>
          <a:ln/>
        </p:spPr>
      </p:sp>
      <p:pic>
        <p:nvPicPr>
          <p:cNvPr id="11" name="Image 1" descr="preencoded.png">    </p:cNvPr>
          <p:cNvPicPr>
            <a:picLocks noChangeAspect="1"/>
          </p:cNvPicPr>
          <p:nvPr/>
        </p:nvPicPr>
        <p:blipFill>
          <a:blip r:embed="rId2"/>
          <a:stretch>
            <a:fillRect/>
          </a:stretch>
        </p:blipFill>
        <p:spPr>
          <a:xfrm>
            <a:off x="4983480" y="1005840"/>
            <a:ext cx="365760" cy="365760"/>
          </a:xfrm>
          <a:prstGeom prst="rect">
            <a:avLst/>
          </a:prstGeom>
        </p:spPr>
      </p:pic>
      <p:sp>
        <p:nvSpPr>
          <p:cNvPr id="12" name="Text 8"/>
          <p:cNvSpPr/>
          <p:nvPr/>
        </p:nvSpPr>
        <p:spPr>
          <a:xfrm>
            <a:off x="5440680" y="1005840"/>
            <a:ext cx="3017520" cy="365760"/>
          </a:xfrm>
          <a:prstGeom prst="rect">
            <a:avLst/>
          </a:prstGeom>
          <a:noFill/>
          <a:ln/>
        </p:spPr>
        <p:txBody>
          <a:bodyPr wrap="square" lIns="0" tIns="0" rIns="0" bIns="0" rtlCol="0" anchor="ctr"/>
          <a:lstStyle/>
          <a:p>
            <a:pPr indent="0" marL="0">
              <a:buNone/>
            </a:pPr>
            <a:r>
              <a:rPr lang="en-US" sz="1400" b="1" dirty="0">
                <a:solidFill>
                  <a:srgbClr val="0D9488"/>
                </a:solidFill>
                <a:latin typeface="Calibri" pitchFamily="34" charset="0"/>
                <a:ea typeface="Calibri" pitchFamily="34" charset="-122"/>
                <a:cs typeface="Calibri" pitchFamily="34" charset="-120"/>
              </a:rPr>
              <a:t>Comparison Tables</a:t>
            </a:r>
            <a:endParaRPr lang="en-US" sz="1400" dirty="0"/>
          </a:p>
        </p:txBody>
      </p:sp>
      <p:sp>
        <p:nvSpPr>
          <p:cNvPr id="13" name="Text 9"/>
          <p:cNvSpPr/>
          <p:nvPr/>
        </p:nvSpPr>
        <p:spPr>
          <a:xfrm>
            <a:off x="4983480" y="1417320"/>
            <a:ext cx="3474720" cy="109728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“Compare 4 video call apps (Zoom, Teams, Meet, Skype) in a table: Free Plan, Best Feature, Ease of Use. Keep it simple for non-technical people.”</a:t>
            </a:r>
            <a:endParaRPr lang="en-US" sz="1100" dirty="0"/>
          </a:p>
        </p:txBody>
      </p:sp>
      <p:sp>
        <p:nvSpPr>
          <p:cNvPr id="14" name="Shape 10"/>
          <p:cNvSpPr/>
          <p:nvPr/>
        </p:nvSpPr>
        <p:spPr>
          <a:xfrm>
            <a:off x="457200" y="3017520"/>
            <a:ext cx="8229600" cy="914400"/>
          </a:xfrm>
          <a:prstGeom prst="rect">
            <a:avLst/>
          </a:prstGeom>
          <a:solidFill>
            <a:srgbClr val="FEF9E7"/>
          </a:solidFill>
          <a:ln/>
        </p:spPr>
      </p:sp>
      <p:pic>
        <p:nvPicPr>
          <p:cNvPr id="15" name="Image 2" descr="preencoded.png">    </p:cNvPr>
          <p:cNvPicPr>
            <a:picLocks noChangeAspect="1"/>
          </p:cNvPicPr>
          <p:nvPr/>
        </p:nvPicPr>
        <p:blipFill>
          <a:blip r:embed="rId3"/>
          <a:stretch>
            <a:fillRect/>
          </a:stretch>
        </p:blipFill>
        <p:spPr>
          <a:xfrm>
            <a:off x="640080" y="3200400"/>
            <a:ext cx="274320" cy="274320"/>
          </a:xfrm>
          <a:prstGeom prst="rect">
            <a:avLst/>
          </a:prstGeom>
        </p:spPr>
      </p:pic>
      <p:sp>
        <p:nvSpPr>
          <p:cNvPr id="16" name="Text 11"/>
          <p:cNvSpPr/>
          <p:nvPr/>
        </p:nvSpPr>
        <p:spPr>
          <a:xfrm>
            <a:off x="1005840" y="3108960"/>
            <a:ext cx="7498080" cy="7315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Key tips: </a:t>
            </a:r>
            <a:pPr indent="0" marL="0">
              <a:buNone/>
            </a:pPr>
            <a:r>
              <a:rPr lang="en-US" sz="1200" dirty="0">
                <a:solidFill>
                  <a:srgbClr val="334155"/>
                </a:solidFill>
                <a:latin typeface="Calibri" pitchFamily="34" charset="0"/>
                <a:ea typeface="Calibri" pitchFamily="34" charset="-122"/>
                <a:cs typeface="Calibri" pitchFamily="34" charset="-120"/>
              </a:rPr>
              <a:t>Include specific details (names, dates, amounts) for emails. Ask for a specific format (table, list, CSV) for data. Always review before sending!</a:t>
            </a:r>
            <a:endParaRPr lang="en-US" sz="1200" dirty="0"/>
          </a:p>
        </p:txBody>
      </p:sp>
      <p:sp>
        <p:nvSpPr>
          <p:cNvPr id="18" name="Text 12"/>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Summarize &amp; Automate</a:t>
            </a:r>
            <a:endParaRPr lang="en-US" sz="2800" dirty="0"/>
          </a:p>
        </p:txBody>
      </p:sp>
      <p:sp>
        <p:nvSpPr>
          <p:cNvPr id="4" name="Shape 2"/>
          <p:cNvSpPr/>
          <p:nvPr/>
        </p:nvSpPr>
        <p:spPr>
          <a:xfrm>
            <a:off x="457200" y="91440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 name="Shape 3"/>
          <p:cNvSpPr/>
          <p:nvPr/>
        </p:nvSpPr>
        <p:spPr>
          <a:xfrm>
            <a:off x="457200" y="914400"/>
            <a:ext cx="64008" cy="1828800"/>
          </a:xfrm>
          <a:prstGeom prst="rect">
            <a:avLst/>
          </a:prstGeom>
          <a:solidFill>
            <a:srgbClr val="0F3460"/>
          </a:solidFill>
          <a:ln/>
        </p:spPr>
      </p:sp>
      <p:sp>
        <p:nvSpPr>
          <p:cNvPr id="6" name="Text 4"/>
          <p:cNvSpPr/>
          <p:nvPr/>
        </p:nvSpPr>
        <p:spPr>
          <a:xfrm>
            <a:off x="685800" y="1005840"/>
            <a:ext cx="3474720" cy="320040"/>
          </a:xfrm>
          <a:prstGeom prst="rect">
            <a:avLst/>
          </a:prstGeom>
          <a:noFill/>
          <a:ln/>
        </p:spPr>
        <p:txBody>
          <a:bodyPr wrap="square" lIns="0" tIns="0" rIns="0" bIns="0" rtlCol="0" anchor="ctr"/>
          <a:lstStyle/>
          <a:p>
            <a:pPr indent="0" marL="0">
              <a:buNone/>
            </a:pPr>
            <a:r>
              <a:rPr lang="en-US" sz="1400" b="1" dirty="0">
                <a:solidFill>
                  <a:srgbClr val="0F3460"/>
                </a:solidFill>
                <a:latin typeface="Calibri" pitchFamily="34" charset="0"/>
                <a:ea typeface="Calibri" pitchFamily="34" charset="-122"/>
                <a:cs typeface="Calibri" pitchFamily="34" charset="-120"/>
              </a:rPr>
              <a:t>Summarize Anything</a:t>
            </a:r>
            <a:endParaRPr lang="en-US" sz="1400" dirty="0"/>
          </a:p>
        </p:txBody>
      </p:sp>
      <p:sp>
        <p:nvSpPr>
          <p:cNvPr id="7" name="Text 5"/>
          <p:cNvSpPr/>
          <p:nvPr/>
        </p:nvSpPr>
        <p:spPr>
          <a:xfrm>
            <a:off x="685800" y="1371600"/>
            <a:ext cx="3474720" cy="8229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“Summarize this report in 3 parts: (1) a one-paragraph summary, (2) key findings as bullet list, (3) recommended next steps. Simple language.”</a:t>
            </a:r>
            <a:endParaRPr lang="en-US" sz="1100" dirty="0"/>
          </a:p>
        </p:txBody>
      </p:sp>
      <p:sp>
        <p:nvSpPr>
          <p:cNvPr id="8" name="Text 6"/>
          <p:cNvSpPr/>
          <p:nvPr/>
        </p:nvSpPr>
        <p:spPr>
          <a:xfrm>
            <a:off x="685800" y="2240280"/>
            <a:ext cx="347472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Also try: “From this meeting transcript, extract all action items with owner and deadline.”</a:t>
            </a:r>
            <a:endParaRPr lang="en-US" sz="1000" dirty="0"/>
          </a:p>
        </p:txBody>
      </p:sp>
      <p:sp>
        <p:nvSpPr>
          <p:cNvPr id="9" name="Shape 7"/>
          <p:cNvSpPr/>
          <p:nvPr/>
        </p:nvSpPr>
        <p:spPr>
          <a:xfrm>
            <a:off x="4754880" y="914400"/>
            <a:ext cx="3931920" cy="18288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0" name="Shape 8"/>
          <p:cNvSpPr/>
          <p:nvPr/>
        </p:nvSpPr>
        <p:spPr>
          <a:xfrm>
            <a:off x="4754880" y="914400"/>
            <a:ext cx="64008" cy="1828800"/>
          </a:xfrm>
          <a:prstGeom prst="rect">
            <a:avLst/>
          </a:prstGeom>
          <a:solidFill>
            <a:srgbClr val="F59E0B"/>
          </a:solidFill>
          <a:ln/>
        </p:spPr>
      </p:sp>
      <p:sp>
        <p:nvSpPr>
          <p:cNvPr id="11" name="Text 9"/>
          <p:cNvSpPr/>
          <p:nvPr/>
        </p:nvSpPr>
        <p:spPr>
          <a:xfrm>
            <a:off x="4983480" y="1005840"/>
            <a:ext cx="3474720" cy="3200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Simple Automations</a:t>
            </a:r>
            <a:endParaRPr lang="en-US" sz="1400" dirty="0"/>
          </a:p>
        </p:txBody>
      </p:sp>
      <p:sp>
        <p:nvSpPr>
          <p:cNvPr id="12" name="Text 10"/>
          <p:cNvSpPr/>
          <p:nvPr/>
        </p:nvSpPr>
        <p:spPr>
          <a:xfrm>
            <a:off x="4983480" y="1371600"/>
            <a:ext cx="3474720" cy="822960"/>
          </a:xfrm>
          <a:prstGeom prst="rect">
            <a:avLst/>
          </a:prstGeom>
          <a:noFill/>
          <a:ln/>
        </p:spPr>
        <p:txBody>
          <a:bodyPr wrap="square" lIns="0" tIns="0" rIns="0" bIns="0" rtlCol="0" anchor="ctr"/>
          <a:lstStyle/>
          <a:p>
            <a:pPr indent="0" marL="0">
              <a:buNone/>
            </a:pPr>
            <a:r>
              <a:rPr lang="en-US" sz="1100" i="1" dirty="0">
                <a:solidFill>
                  <a:srgbClr val="334155"/>
                </a:solidFill>
                <a:latin typeface="Calibri" pitchFamily="34" charset="0"/>
                <a:ea typeface="Calibri" pitchFamily="34" charset="-122"/>
                <a:cs typeface="Calibri" pitchFamily="34" charset="-120"/>
              </a:rPr>
              <a:t>“Column A has names, B has department, C has sales. I need a formula for total sales per department and highlight sales below 1000. Explain each formula.”</a:t>
            </a:r>
            <a:endParaRPr lang="en-US" sz="1100" dirty="0"/>
          </a:p>
        </p:txBody>
      </p:sp>
      <p:sp>
        <p:nvSpPr>
          <p:cNvPr id="13" name="Text 11"/>
          <p:cNvSpPr/>
          <p:nvPr/>
        </p:nvSpPr>
        <p:spPr>
          <a:xfrm>
            <a:off x="4983480" y="2240280"/>
            <a:ext cx="3474720" cy="36576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Also try: “Create an email template where I just fill in client name, date, and link.”</a:t>
            </a:r>
            <a:endParaRPr lang="en-US" sz="1000" dirty="0"/>
          </a:p>
        </p:txBody>
      </p:sp>
      <p:sp>
        <p:nvSpPr>
          <p:cNvPr id="14" name="Shape 12"/>
          <p:cNvSpPr/>
          <p:nvPr/>
        </p:nvSpPr>
        <p:spPr>
          <a:xfrm>
            <a:off x="457200" y="3017520"/>
            <a:ext cx="8229600" cy="914400"/>
          </a:xfrm>
          <a:prstGeom prst="rect">
            <a:avLst/>
          </a:prstGeom>
          <a:solidFill>
            <a:srgbClr val="FEF9E7"/>
          </a:solidFill>
          <a:ln/>
        </p:spPr>
      </p:sp>
      <p:pic>
        <p:nvPicPr>
          <p:cNvPr id="15" name="Image 0" descr="preencoded.png">    </p:cNvPr>
          <p:cNvPicPr>
            <a:picLocks noChangeAspect="1"/>
          </p:cNvPicPr>
          <p:nvPr/>
        </p:nvPicPr>
        <p:blipFill>
          <a:blip r:embed="rId1"/>
          <a:stretch>
            <a:fillRect/>
          </a:stretch>
        </p:blipFill>
        <p:spPr>
          <a:xfrm>
            <a:off x="640080" y="3200400"/>
            <a:ext cx="274320" cy="274320"/>
          </a:xfrm>
          <a:prstGeom prst="rect">
            <a:avLst/>
          </a:prstGeom>
        </p:spPr>
      </p:pic>
      <p:sp>
        <p:nvSpPr>
          <p:cNvPr id="16" name="Text 13"/>
          <p:cNvSpPr/>
          <p:nvPr/>
        </p:nvSpPr>
        <p:spPr>
          <a:xfrm>
            <a:off x="1005840" y="3108960"/>
            <a:ext cx="7498080" cy="73152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Key tips: </a:t>
            </a:r>
            <a:pPr indent="0" marL="0">
              <a:buNone/>
            </a:pPr>
            <a:r>
              <a:rPr lang="en-US" sz="1200" dirty="0">
                <a:solidFill>
                  <a:srgbClr val="334155"/>
                </a:solidFill>
                <a:latin typeface="Calibri" pitchFamily="34" charset="0"/>
                <a:ea typeface="Calibri" pitchFamily="34" charset="-122"/>
                <a:cs typeface="Calibri" pitchFamily="34" charset="-120"/>
              </a:rPr>
              <a:t>Ask for structured output (summary + findings + next steps). For formulas, describe your spreadsheet layout. Upload files directly to Claude or ChatGPT!</a:t>
            </a:r>
            <a:endParaRPr lang="en-US" sz="1200" dirty="0"/>
          </a:p>
        </p:txBody>
      </p:sp>
      <p:sp>
        <p:nvSpPr>
          <p:cNvPr id="18" name="Text 14"/>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E94560"/>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The Secret: Write Better Prompts</a:t>
            </a:r>
            <a:endParaRPr lang="en-US" sz="2800" dirty="0"/>
          </a:p>
        </p:txBody>
      </p:sp>
      <p:sp>
        <p:nvSpPr>
          <p:cNvPr id="4" name="Shape 2"/>
          <p:cNvSpPr/>
          <p:nvPr/>
        </p:nvSpPr>
        <p:spPr>
          <a:xfrm>
            <a:off x="457200" y="868680"/>
            <a:ext cx="8229600" cy="640080"/>
          </a:xfrm>
          <a:prstGeom prst="rect">
            <a:avLst/>
          </a:prstGeom>
          <a:solidFill>
            <a:srgbClr val="0D9488"/>
          </a:solidFill>
          <a:ln/>
        </p:spPr>
      </p:sp>
      <p:pic>
        <p:nvPicPr>
          <p:cNvPr id="5" name="Image 0" descr="preencoded.png">    </p:cNvPr>
          <p:cNvPicPr>
            <a:picLocks noChangeAspect="1"/>
          </p:cNvPicPr>
          <p:nvPr/>
        </p:nvPicPr>
        <p:blipFill>
          <a:blip r:embed="rId1"/>
          <a:stretch>
            <a:fillRect/>
          </a:stretch>
        </p:blipFill>
        <p:spPr>
          <a:xfrm>
            <a:off x="731520" y="987552"/>
            <a:ext cx="365760" cy="365760"/>
          </a:xfrm>
          <a:prstGeom prst="rect">
            <a:avLst/>
          </a:prstGeom>
        </p:spPr>
      </p:pic>
      <p:sp>
        <p:nvSpPr>
          <p:cNvPr id="6" name="Text 3"/>
          <p:cNvSpPr/>
          <p:nvPr/>
        </p:nvSpPr>
        <p:spPr>
          <a:xfrm>
            <a:off x="1188720" y="868680"/>
            <a:ext cx="7315200" cy="64008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The Formula:  Role  +  Task  +  Context  +  Format  +  Constraints</a:t>
            </a:r>
            <a:endParaRPr lang="en-US" sz="1600" dirty="0"/>
          </a:p>
        </p:txBody>
      </p:sp>
      <p:sp>
        <p:nvSpPr>
          <p:cNvPr id="7" name="Shape 4"/>
          <p:cNvSpPr/>
          <p:nvPr/>
        </p:nvSpPr>
        <p:spPr>
          <a:xfrm>
            <a:off x="457200" y="169164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8" name="Image 1" descr="preencoded.png">    </p:cNvPr>
          <p:cNvPicPr>
            <a:picLocks noChangeAspect="1"/>
          </p:cNvPicPr>
          <p:nvPr/>
        </p:nvPicPr>
        <p:blipFill>
          <a:blip r:embed="rId2"/>
          <a:stretch>
            <a:fillRect/>
          </a:stretch>
        </p:blipFill>
        <p:spPr>
          <a:xfrm>
            <a:off x="594360" y="1892808"/>
            <a:ext cx="320040" cy="320040"/>
          </a:xfrm>
          <a:prstGeom prst="rect">
            <a:avLst/>
          </a:prstGeom>
        </p:spPr>
      </p:pic>
      <p:sp>
        <p:nvSpPr>
          <p:cNvPr id="9" name="Text 5"/>
          <p:cNvSpPr/>
          <p:nvPr/>
        </p:nvSpPr>
        <p:spPr>
          <a:xfrm>
            <a:off x="1005840" y="1737360"/>
            <a:ext cx="31089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Be Specific</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Not “Write an email” but “Apology email to client, 15% discount”</a:t>
            </a:r>
            <a:endParaRPr lang="en-US" sz="1300" dirty="0"/>
          </a:p>
        </p:txBody>
      </p:sp>
      <p:sp>
        <p:nvSpPr>
          <p:cNvPr id="10" name="Shape 6"/>
          <p:cNvSpPr/>
          <p:nvPr/>
        </p:nvSpPr>
        <p:spPr>
          <a:xfrm>
            <a:off x="4663440" y="169164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1" name="Image 2" descr="preencoded.png">    </p:cNvPr>
          <p:cNvPicPr>
            <a:picLocks noChangeAspect="1"/>
          </p:cNvPicPr>
          <p:nvPr/>
        </p:nvPicPr>
        <p:blipFill>
          <a:blip r:embed="rId3"/>
          <a:stretch>
            <a:fillRect/>
          </a:stretch>
        </p:blipFill>
        <p:spPr>
          <a:xfrm>
            <a:off x="4800600" y="1892808"/>
            <a:ext cx="320040" cy="320040"/>
          </a:xfrm>
          <a:prstGeom prst="rect">
            <a:avLst/>
          </a:prstGeom>
        </p:spPr>
      </p:pic>
      <p:sp>
        <p:nvSpPr>
          <p:cNvPr id="12" name="Text 7"/>
          <p:cNvSpPr/>
          <p:nvPr/>
        </p:nvSpPr>
        <p:spPr>
          <a:xfrm>
            <a:off x="5212080" y="1737360"/>
            <a:ext cx="31089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Define Audience</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“For non-technical managers” or “for a 10-year-old”</a:t>
            </a:r>
            <a:endParaRPr lang="en-US" sz="1300" dirty="0"/>
          </a:p>
        </p:txBody>
      </p:sp>
      <p:sp>
        <p:nvSpPr>
          <p:cNvPr id="13" name="Shape 8"/>
          <p:cNvSpPr/>
          <p:nvPr/>
        </p:nvSpPr>
        <p:spPr>
          <a:xfrm>
            <a:off x="457200" y="269748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4" name="Image 3" descr="preencoded.png">    </p:cNvPr>
          <p:cNvPicPr>
            <a:picLocks noChangeAspect="1"/>
          </p:cNvPicPr>
          <p:nvPr/>
        </p:nvPicPr>
        <p:blipFill>
          <a:blip r:embed="rId4"/>
          <a:stretch>
            <a:fillRect/>
          </a:stretch>
        </p:blipFill>
        <p:spPr>
          <a:xfrm>
            <a:off x="594360" y="2898648"/>
            <a:ext cx="320040" cy="320040"/>
          </a:xfrm>
          <a:prstGeom prst="rect">
            <a:avLst/>
          </a:prstGeom>
        </p:spPr>
      </p:pic>
      <p:sp>
        <p:nvSpPr>
          <p:cNvPr id="15" name="Text 9"/>
          <p:cNvSpPr/>
          <p:nvPr/>
        </p:nvSpPr>
        <p:spPr>
          <a:xfrm>
            <a:off x="1005840" y="2743200"/>
            <a:ext cx="31089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Set the Format</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“As a table”, “in 3 paragraphs”, “step-by-step guide”</a:t>
            </a:r>
            <a:endParaRPr lang="en-US" sz="1300" dirty="0"/>
          </a:p>
        </p:txBody>
      </p:sp>
      <p:sp>
        <p:nvSpPr>
          <p:cNvPr id="16" name="Shape 10"/>
          <p:cNvSpPr/>
          <p:nvPr/>
        </p:nvSpPr>
        <p:spPr>
          <a:xfrm>
            <a:off x="4663440" y="269748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17" name="Image 4" descr="preencoded.png">    </p:cNvPr>
          <p:cNvPicPr>
            <a:picLocks noChangeAspect="1"/>
          </p:cNvPicPr>
          <p:nvPr/>
        </p:nvPicPr>
        <p:blipFill>
          <a:blip r:embed="rId5"/>
          <a:stretch>
            <a:fillRect/>
          </a:stretch>
        </p:blipFill>
        <p:spPr>
          <a:xfrm>
            <a:off x="4800600" y="2898648"/>
            <a:ext cx="320040" cy="320040"/>
          </a:xfrm>
          <a:prstGeom prst="rect">
            <a:avLst/>
          </a:prstGeom>
        </p:spPr>
      </p:pic>
      <p:sp>
        <p:nvSpPr>
          <p:cNvPr id="18" name="Text 11"/>
          <p:cNvSpPr/>
          <p:nvPr/>
        </p:nvSpPr>
        <p:spPr>
          <a:xfrm>
            <a:off x="5212080" y="2743200"/>
            <a:ext cx="31089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Give Context</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“I'm a small business owner”, “for a team of 20”</a:t>
            </a:r>
            <a:endParaRPr lang="en-US" sz="1300" dirty="0"/>
          </a:p>
        </p:txBody>
      </p:sp>
      <p:sp>
        <p:nvSpPr>
          <p:cNvPr id="19" name="Shape 12"/>
          <p:cNvSpPr/>
          <p:nvPr/>
        </p:nvSpPr>
        <p:spPr>
          <a:xfrm>
            <a:off x="457200" y="370332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0" name="Image 5" descr="preencoded.png">    </p:cNvPr>
          <p:cNvPicPr>
            <a:picLocks noChangeAspect="1"/>
          </p:cNvPicPr>
          <p:nvPr/>
        </p:nvPicPr>
        <p:blipFill>
          <a:blip r:embed="rId6"/>
          <a:stretch>
            <a:fillRect/>
          </a:stretch>
        </p:blipFill>
        <p:spPr>
          <a:xfrm>
            <a:off x="594360" y="3904488"/>
            <a:ext cx="320040" cy="320040"/>
          </a:xfrm>
          <a:prstGeom prst="rect">
            <a:avLst/>
          </a:prstGeom>
        </p:spPr>
      </p:pic>
      <p:sp>
        <p:nvSpPr>
          <p:cNvPr id="21" name="Text 13"/>
          <p:cNvSpPr/>
          <p:nvPr/>
        </p:nvSpPr>
        <p:spPr>
          <a:xfrm>
            <a:off x="1005840" y="3749040"/>
            <a:ext cx="31089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Set Constraints</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“Under 200 words”, “formal tone”, “only EU regulations”</a:t>
            </a:r>
            <a:endParaRPr lang="en-US" sz="1300" dirty="0"/>
          </a:p>
        </p:txBody>
      </p:sp>
      <p:sp>
        <p:nvSpPr>
          <p:cNvPr id="22" name="Shape 14"/>
          <p:cNvSpPr/>
          <p:nvPr/>
        </p:nvSpPr>
        <p:spPr>
          <a:xfrm>
            <a:off x="4663440" y="3703320"/>
            <a:ext cx="3840480" cy="822960"/>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23" name="Image 6" descr="preencoded.png">    </p:cNvPr>
          <p:cNvPicPr>
            <a:picLocks noChangeAspect="1"/>
          </p:cNvPicPr>
          <p:nvPr/>
        </p:nvPicPr>
        <p:blipFill>
          <a:blip r:embed="rId7"/>
          <a:stretch>
            <a:fillRect/>
          </a:stretch>
        </p:blipFill>
        <p:spPr>
          <a:xfrm>
            <a:off x="4800600" y="3904488"/>
            <a:ext cx="320040" cy="320040"/>
          </a:xfrm>
          <a:prstGeom prst="rect">
            <a:avLst/>
          </a:prstGeom>
        </p:spPr>
      </p:pic>
      <p:sp>
        <p:nvSpPr>
          <p:cNvPr id="24" name="Text 15"/>
          <p:cNvSpPr/>
          <p:nvPr/>
        </p:nvSpPr>
        <p:spPr>
          <a:xfrm>
            <a:off x="5212080" y="3749040"/>
            <a:ext cx="3108960" cy="73152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Iterate!</a:t>
            </a:r>
            <a:endParaRPr lang="en-US" sz="1300" dirty="0"/>
          </a:p>
          <a:p>
            <a:pPr indent="0" marL="0">
              <a:buNone/>
            </a:pPr>
            <a:r>
              <a:rPr lang="en-US" sz="1100" dirty="0">
                <a:solidFill>
                  <a:srgbClr val="64748B"/>
                </a:solidFill>
                <a:latin typeface="Calibri" pitchFamily="34" charset="0"/>
                <a:ea typeface="Calibri" pitchFamily="34" charset="-122"/>
                <a:cs typeface="Calibri" pitchFamily="34" charset="-120"/>
              </a:rPr>
              <a:t>“Make it shorter”, “Simpler language”, “Add an example”</a:t>
            </a:r>
            <a:endParaRPr lang="en-US" sz="1300" dirty="0"/>
          </a:p>
        </p:txBody>
      </p:sp>
      <p:sp>
        <p:nvSpPr>
          <p:cNvPr id="26" name="Text 16"/>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p:spPr>
      </p:sp>
      <p:sp>
        <p:nvSpPr>
          <p:cNvPr id="3" name="Text 1"/>
          <p:cNvSpPr/>
          <p:nvPr/>
        </p:nvSpPr>
        <p:spPr>
          <a:xfrm>
            <a:off x="457200" y="228600"/>
            <a:ext cx="8229600" cy="548640"/>
          </a:xfrm>
          <a:prstGeom prst="rect">
            <a:avLst/>
          </a:prstGeom>
          <a:noFill/>
          <a:ln/>
        </p:spPr>
        <p:txBody>
          <a:bodyPr wrap="square" lIns="0" tIns="0" rIns="0" bIns="0" rtlCol="0" anchor="ctr"/>
          <a:lstStyle/>
          <a:p>
            <a:pPr indent="0" marL="0">
              <a:buNone/>
            </a:pPr>
            <a:r>
              <a:rPr lang="en-US" sz="2800" b="1" dirty="0">
                <a:solidFill>
                  <a:srgbClr val="16213E"/>
                </a:solidFill>
                <a:latin typeface="Georgia" pitchFamily="34" charset="0"/>
                <a:ea typeface="Georgia" pitchFamily="34" charset="-122"/>
                <a:cs typeface="Georgia" pitchFamily="34" charset="-120"/>
              </a:rPr>
              <a:t>Quick Reference: Copy &amp; Paste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914400"/>
        </p:xfrm>
        <a:graphic>
          <a:graphicData uri="http://schemas.openxmlformats.org/drawingml/2006/table">
            <a:tbl>
              <a:tblPr/>
              <a:tblGrid>
                <a:gridCol w="2286000"/>
                <a:gridCol w="594360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 need to…</a:t>
                      </a:r>
                      <a:endParaRPr lang="en-US" sz="13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6213E"/>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Try this prompt</a:t>
                      </a:r>
                      <a:endParaRPr lang="en-US" sz="13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6213E"/>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Summarize something</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“Summarize this in 3 bullet points: [paste text]”</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Write an email</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“Write a short, friendly email to [person] about [topic]”</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Fix my grammar</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“Proofread and fix grammar: [paste text]”</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Make it simpler</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“Rewrite so a 12-year-old understands: [paste text]”</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Compare options</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“Compare [A] and [B] in a simple table”</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Get ideas</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“Give me 5 creative ideas for [topic]”</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Explain a concept</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“Explain [topic] like I'm 10, using an analogy”</a:t>
                      </a:r>
                      <a:endParaRPr lang="en-US" sz="1200" dirty="0">
                        <a:latin typeface="Calibri" charset="0"/>
                        <a:ea typeface="Calibri" charset="0"/>
                        <a:cs typeface="Calibri" charset="0"/>
                      </a:endParaRPr>
                    </a:p>
                  </a:txBody>
                  <a:tcPr marL="76200" marR="76200" marT="76200" marB="76200">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EBF5FB"/>
                    </a:solidFill>
                  </a:tcPr>
                </a:tc>
              </a:tr>
            </a:tbl>
          </a:graphicData>
        </a:graphic>
      </p:graphicFrame>
      <p:sp>
        <p:nvSpPr>
          <p:cNvPr id="6" name="Text 2"/>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914400" y="1828800"/>
            <a:ext cx="3657600" cy="3657600"/>
          </a:xfrm>
          <a:prstGeom prst="ellipse">
            <a:avLst/>
          </a:prstGeom>
          <a:solidFill>
            <a:srgbClr val="0D9488">
              <a:alpha val="25000"/>
            </a:srgbClr>
          </a:solidFill>
          <a:ln/>
        </p:spPr>
      </p:sp>
      <p:sp>
        <p:nvSpPr>
          <p:cNvPr id="3" name="Shape 1"/>
          <p:cNvSpPr/>
          <p:nvPr/>
        </p:nvSpPr>
        <p:spPr>
          <a:xfrm>
            <a:off x="6400800" y="-914400"/>
            <a:ext cx="3657600" cy="3657600"/>
          </a:xfrm>
          <a:prstGeom prst="ellipse">
            <a:avLst/>
          </a:prstGeom>
          <a:solidFill>
            <a:srgbClr val="E94560">
              <a:alpha val="20000"/>
            </a:srgbClr>
          </a:solidFill>
          <a:ln/>
        </p:spPr>
      </p:sp>
      <p:pic>
        <p:nvPicPr>
          <p:cNvPr id="4" name="Image 0" descr="preencoded.png">    </p:cNvPr>
          <p:cNvPicPr>
            <a:picLocks noChangeAspect="1"/>
          </p:cNvPicPr>
          <p:nvPr/>
        </p:nvPicPr>
        <p:blipFill>
          <a:blip r:embed="rId1"/>
          <a:stretch>
            <a:fillRect/>
          </a:stretch>
        </p:blipFill>
        <p:spPr>
          <a:xfrm>
            <a:off x="4114800" y="914400"/>
            <a:ext cx="914400" cy="914400"/>
          </a:xfrm>
          <a:prstGeom prst="rect">
            <a:avLst/>
          </a:prstGeom>
        </p:spPr>
      </p:pic>
      <p:sp>
        <p:nvSpPr>
          <p:cNvPr id="5" name="Text 2"/>
          <p:cNvSpPr/>
          <p:nvPr/>
        </p:nvSpPr>
        <p:spPr>
          <a:xfrm>
            <a:off x="914400" y="1920240"/>
            <a:ext cx="7315200" cy="91440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Start Experimenting!</a:t>
            </a:r>
            <a:endParaRPr lang="en-US" sz="4200" dirty="0"/>
          </a:p>
        </p:txBody>
      </p:sp>
      <p:sp>
        <p:nvSpPr>
          <p:cNvPr id="6" name="Text 3"/>
          <p:cNvSpPr/>
          <p:nvPr/>
        </p:nvSpPr>
        <p:spPr>
          <a:xfrm>
            <a:off x="1371600" y="2834640"/>
            <a:ext cx="6400800" cy="731520"/>
          </a:xfrm>
          <a:prstGeom prst="rect">
            <a:avLst/>
          </a:prstGeom>
          <a:noFill/>
          <a:ln/>
        </p:spPr>
        <p:txBody>
          <a:bodyPr wrap="square" rtlCol="0" anchor="ctr"/>
          <a:lstStyle/>
          <a:p>
            <a:pPr algn="ctr" indent="0" marL="0">
              <a:buNone/>
            </a:pPr>
            <a:r>
              <a:rPr lang="en-US" sz="1600" dirty="0">
                <a:solidFill>
                  <a:srgbClr val="14B8A6"/>
                </a:solidFill>
                <a:latin typeface="Calibri" pitchFamily="34" charset="0"/>
                <a:ea typeface="Calibri" pitchFamily="34" charset="-122"/>
                <a:cs typeface="Calibri" pitchFamily="34" charset="-120"/>
              </a:rPr>
              <a:t>There are no “wrong” prompts.</a:t>
            </a:r>
            <a:endParaRPr lang="en-US" sz="1600" dirty="0"/>
          </a:p>
          <a:p>
            <a:pPr algn="ctr" indent="0" marL="0">
              <a:buNone/>
            </a:pPr>
            <a:r>
              <a:rPr lang="en-US" sz="1600" dirty="0">
                <a:solidFill>
                  <a:srgbClr val="14B8A6"/>
                </a:solidFill>
                <a:latin typeface="Calibri" pitchFamily="34" charset="0"/>
                <a:ea typeface="Calibri" pitchFamily="34" charset="-122"/>
                <a:cs typeface="Calibri" pitchFamily="34" charset="-120"/>
              </a:rPr>
              <a:t>Every interaction is a learning opportunity.</a:t>
            </a:r>
            <a:endParaRPr lang="en-US" sz="1600" dirty="0"/>
          </a:p>
        </p:txBody>
      </p:sp>
      <p:sp>
        <p:nvSpPr>
          <p:cNvPr id="7" name="Text 4"/>
          <p:cNvSpPr/>
          <p:nvPr/>
        </p:nvSpPr>
        <p:spPr>
          <a:xfrm>
            <a:off x="1371600" y="3840480"/>
            <a:ext cx="6400800" cy="365760"/>
          </a:xfrm>
          <a:prstGeom prst="rect">
            <a:avLst/>
          </a:prstGeom>
          <a:noFill/>
          <a:ln/>
        </p:spPr>
        <p:txBody>
          <a:bodyPr wrap="square" rtlCol="0" anchor="ctr"/>
          <a:lstStyle/>
          <a:p>
            <a:pPr algn="ctr" indent="0" marL="0">
              <a:buNone/>
            </a:pPr>
            <a:r>
              <a:rPr lang="en-US" sz="1300" dirty="0">
                <a:solidFill>
                  <a:srgbClr val="64748B"/>
                </a:solidFill>
                <a:latin typeface="Calibri" pitchFamily="34" charset="0"/>
                <a:ea typeface="Calibri" pitchFamily="34" charset="-122"/>
                <a:cs typeface="Calibri" pitchFamily="34" charset="-120"/>
              </a:rPr>
              <a:t>Full guide document + cheat sheet available for download</a:t>
            </a:r>
            <a:endParaRPr lang="en-US" sz="1300" dirty="0"/>
          </a:p>
        </p:txBody>
      </p:sp>
      <p:sp>
        <p:nvSpPr>
          <p:cNvPr id="9" name="Text 5"/>
          <p:cNvSpPr/>
          <p:nvPr/>
        </p:nvSpPr>
        <p:spPr>
          <a:xfrm>
            <a:off x="0" y="4754880"/>
            <a:ext cx="9144000" cy="365760"/>
          </a:xfrm>
          <a:prstGeom prst="rect">
            <a:avLst/>
          </a:prstGeom>
          <a:noFill/>
          <a:ln/>
        </p:spPr>
        <p:txBody>
          <a:bodyPr wrap="square"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8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2026-04-10T14:00:23Z</dcterms:created>
  <dcterms:modified xsi:type="dcterms:W3CDTF">2026-04-10T14:00:23Z</dcterms:modified>
</cp:coreProperties>
</file>