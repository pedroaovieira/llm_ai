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Welcome everyone! Today we’re going to explore how Artificial Intelligence tools can help you in your daily work. The great news is that you don’t need any technical skills or coding knowledge to use AI. If you can type a message or write an email, you already have everything you need. We’ll go through real examples with actual prompts you can copy and start using right away. By the end of this session, you’ll feel confident using AI for a variety of everyday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Here’s an overview of what we’ll cover today. We’ll start with creating images for your presentations and documents. Then we’ll look at how AI can help you build entire presentations from scratch. We’ll explore fetching and organizing data, writing emails and messages, and summarizing long documents. We’ll also cover simple automations that save you time, how to use AI for learning new things, and finally the most important part: how to write better prompts so you get the best results every time. Each section includes real prompts you can use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Let’s start with the basics. How does AI chat actually work? Think of it as having a conversation with a very smart assistant. The process is simple: first, you write a prompt, which is just a description of what you need in plain language. Second, the AI processes your request. It understands the context, what you’re trying to achieve, and the details you’ve provided. Third, you get a result: text, data, ideas, formatted content, or whatever you asked for. The key insight is this: the better your instructions, the better the result. You can use any of the popular AI tools shown at the bottom. They all work in a similar way. Claude, ChatGPT, Microsoft Copilot, and Google Gemini are the most well-known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Let’s dive into our first practical skill: creating images with AI. AI image generators can create custom illustrations, icons, diagrams, and visuals in seconds. This means you no longer need to spend time searching through stock photo websites trying to find something that almost fits what you need. Instead, you just describe exactly what you want, and the AI creates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 are three real examples of prompts that work well for creating images. The first one is for a presentation cover image. Notice how the prompt specifies the style, which is modern flat design, the colors, which are blue and white, and the subject, a shield protecting a laptop. It also says ’no text’ at the end, which is important because AI image tools sometimes produce garbled or misspelled text. The second example is for creating a consistent set of icons. The key here is asking for ’consistent style’ so all the icons look like they belong together on your slides. The third example is for a process diagram. Here, we describe the exact layout we want: rounded boxes connected by arrows. The more specific you are about the visual structure, the better the result. Remember, if the first result isn’t perfect, you can always ask for changes: ’make it brighter’, ’remove the background’, or ’change the color to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Next up: building presentations. This is one of the most immediately useful things AI can do for you. Instead of staring at a blank page wondering where to start, you can have AI generate a complete outline with slide titles, content, and even visual suggestions. Let me show you some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On the left, we have a prompt for creating a full presentation outline from scratch. Notice how it specifies the audience, which is office managers who are not very technical. This is important because it changes the language and complexity of the output. It also asks for visual suggestions for each slide, which gives you ideas for images to include. On the top right, we have a prompt for generating speaker notes. This is perfect when you already have the slides but aren’t sure what to say during the presentation. Just list your slide titles and ask for conversational notes. On the bottom right, there’s a powerful use case: converting an existing document into a presentation. You can paste any report or document and ask AI to extract the key points and organize them into slides. This saves enormous amounts of time when you need to present information that already exists in written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Now let’s look at how AI can help you work with data. Whether you need to collect information, organize it, compare options, or make sense of feedback, AI handles these tasks very efficiently. You don’t need to know any spreadsheet formulas or data analysis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 are three common data tasks. First, comparison tables. Instead of spending an hour researching and formatting, you can ask AI to compare tools, products, or services in a clean table format. Just specify what you want to compare and which criteria matter to you. Second, analyzing feedback. If you have customer comments, survey responses, or any text data, you can paste it into the AI and ask for a structured analysis: top complaints, top praises, overall sentiment. Third, generating sample data. This is useful for testing, training, or creating examples. You describe the structure you want, the columns, and the ranges, and AI generates realistic data ready for Excel. A great tip: many AI tools now let you upload files directly. You can drag and drop an Excel file, a CSV, or even a PDF, and ask the AI to analyze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Let’s move on to one of the most popular uses of AI: writing emails and messages. Whether you’re dealing with a difficult conversation, need to write in a professional tone, or just want to save time on routine communications, AI is an excellent writing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 we have three different email scenarios, each requiring a different approach. The first is a client apology. Notice how the prompt includes specific details: the order was late and damaged, we want to offer a replacement and a fifteen percent discount, and we want to keep it under one hundred and fifty words. The more specific details you give, the less editing you’ll need. The second is a meeting follow-up. Here, the prompt lists all the key decisions, names, dates, and action items. This gives the AI everything it needs to write a complete, accurate email. The third is a difficult message: addressing a colleague who’s missing deadlines. Notice how the prompt describes the tone: direct but respectful, warm but firm, and for Slack specifically. Describing the emotional context helps the AI calibrate the tone precisely. One important reminder: always review AI-generated emails before sending. Check that names, dates, and amounts are correct, and add a personal touch so it sounds like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Now let’s talk about summarizing documents. This is where AI really shines. It can read long reports, articles, meeting transcripts, or any text, and produce a concise summary in exactly the format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 are three different summarization approaches. The first is an executive summary. The prompt asks for a structured output: a one-paragraph summary, key findings as a bullet list, and recommended next steps. This is much more useful than just asking the AI to ’summarize this.’ The second is converting meeting transcripts into action items. This is incredibly practical. You paste your messy meeting notes and get back a clean list of decisions made, action items with owners and deadlines, and unresolved questions. You can share this with your team immediately after the meeting. The third is simplifying technical documents. If you have a policy, manual, or technical document that needs to be shared with non-technical people, AI can rewrite it in plain language while keeping the same structure. This is especially useful for IT policies, compliance documents, or anything with a lot of jargon.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Let’s look at simple automations. Even without any coding skills, you can use AI to create formulas, templates, and shortcuts that save you time on repetitive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Here are three practical automation examples. First, Excel formulas. Instead of trying to figure out complex spreadsheet formulas yourself, just describe your spreadsheet layout and what you want to calculate. The AI will give you the exact formula to paste in, and explain what it does. Second, file renaming. If you have hundreds of files with random names, you can ask AI for step-by-step instructions to rename them all at once. Just specify your operating system and whether you want to avoid installing extra software. Third, reusable email templates. If you send the same type of email regularly, the AI can create a template where you just fill in the parts that change each time. It can even create a checklist to verify before sending. These are small things, but they add up to a lot of time saved over weeks and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AI is also a fantastic learning tool. Think of it as a patient tutor that’s always available, never judges you for asking basic questions, and adapts its explanations to your level. Whether you’re trying to understand a new concept, prepare for a meeting, or learn a new skill, AI can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This is arguably the most important slide in the entire presentation. The quality of what you get from AI depends almost entirely on how you write your prompt. Here’s a simple formula you can use for any prompt: Role plus Task plus Context plus Format plus Constraints. Let’s go through the eight key principles. Be Specific: instead of ’write an email’, say ’apology email to a client, offer ten percent discount.’ Define your Audience: saying ’for non-technical managers’ or ’for a ten-year-old’ completely changes the output. Set the Format: ask for ’a table’, ’three paragraphs’, or ’a step-by-step guide.’ Give Context: explain your situation, like ’I’m a small business owner’ or ’this is for a team of twenty.’ Set Constraints: limit the length, tone, or scope, like ’under two hundred words’ or ’formal tone.’ Assign a Role: start with ’act as a marketing expert’ or ’you are a patient teacher.’ Give Examples: show the AI what you like and ask for something similar. And finally, Iterate! If the first answer isn’t perfect, ask for changes: ’make it shorter’, ’simpler language’, ’add an example.’ You don’t need to start over. The AI remembers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400"/>
              <a:t>And that brings us to the end! The most important thing to remember is: just start experimenting. There are no wrong prompts. Every time you use AI, you get better at communicating what you need. Start with the examples we showed today, adapt them to your own tasks, and don’t be afraid to try things. If something doesn’t work, just ask differently. We have a complete guide document with all the examples and detailed explanations that you can refer back to anytime. Thank you for your attention, and happy experimenting!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6213E">
              <a:alpha val="50000"/>
            </a:srgbClr>
          </a:solidFill>
          <a:ln/>
        </p:spPr>
      </p:sp>
      <p:sp>
        <p:nvSpPr>
          <p:cNvPr id="3" name="Shape 1"/>
          <p:cNvSpPr/>
          <p:nvPr/>
        </p:nvSpPr>
        <p:spPr>
          <a:xfrm>
            <a:off x="5943600" y="2743200"/>
            <a:ext cx="4572000" cy="4572000"/>
          </a:xfrm>
          <a:prstGeom prst="ellipse">
            <a:avLst/>
          </a:prstGeom>
          <a:solidFill>
            <a:srgbClr val="0D9488">
              <a:alpha val="30000"/>
            </a:srgbClr>
          </a:solidFill>
          <a:ln/>
        </p:spPr>
      </p:sp>
      <p:sp>
        <p:nvSpPr>
          <p:cNvPr id="4" name="Shape 2"/>
          <p:cNvSpPr/>
          <p:nvPr/>
        </p:nvSpPr>
        <p:spPr>
          <a:xfrm>
            <a:off x="7315200" y="-914400"/>
            <a:ext cx="2743200" cy="2743200"/>
          </a:xfrm>
          <a:prstGeom prst="ellipse">
            <a:avLst/>
          </a:prstGeom>
          <a:solidFill>
            <a:srgbClr val="E94560">
              <a:alpha val="20000"/>
            </a:srgbClr>
          </a:solidFill>
          <a:ln/>
        </p:spPr>
      </p:sp>
      <p:sp>
        <p:nvSpPr>
          <p:cNvPr id="5" name="Text 3"/>
          <p:cNvSpPr/>
          <p:nvPr/>
        </p:nvSpPr>
        <p:spPr>
          <a:xfrm>
            <a:off x="731520" y="1097280"/>
            <a:ext cx="768096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Practical AI Skills</a:t>
            </a:r>
            <a:endParaRPr lang="en-US" sz="4800" dirty="0"/>
          </a:p>
        </p:txBody>
      </p:sp>
      <p:sp>
        <p:nvSpPr>
          <p:cNvPr id="6" name="Text 4"/>
          <p:cNvSpPr/>
          <p:nvPr/>
        </p:nvSpPr>
        <p:spPr>
          <a:xfrm>
            <a:off x="1371600" y="2286000"/>
            <a:ext cx="6400800" cy="640080"/>
          </a:xfrm>
          <a:prstGeom prst="rect">
            <a:avLst/>
          </a:prstGeom>
          <a:noFill/>
          <a:ln/>
        </p:spPr>
        <p:txBody>
          <a:bodyPr wrap="square" rtlCol="0" anchor="ctr"/>
          <a:lstStyle/>
          <a:p>
            <a:pPr algn="ctr" indent="0" marL="0">
              <a:buNone/>
            </a:pPr>
            <a:r>
              <a:rPr lang="en-US" sz="2200" dirty="0">
                <a:solidFill>
                  <a:srgbClr val="14B8A6"/>
                </a:solidFill>
                <a:latin typeface="Calibri" pitchFamily="34" charset="0"/>
                <a:ea typeface="Calibri" pitchFamily="34" charset="-122"/>
                <a:cs typeface="Calibri" pitchFamily="34" charset="-120"/>
              </a:rPr>
              <a:t>A Beginner-Friendly Guide</a:t>
            </a:r>
            <a:endParaRPr lang="en-US" sz="2200" dirty="0"/>
          </a:p>
        </p:txBody>
      </p:sp>
      <p:sp>
        <p:nvSpPr>
          <p:cNvPr id="7" name="Text 5"/>
          <p:cNvSpPr/>
          <p:nvPr/>
        </p:nvSpPr>
        <p:spPr>
          <a:xfrm>
            <a:off x="1371600" y="3108960"/>
            <a:ext cx="6400800" cy="45720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Learn to use AI tools for everyday tasks — no coding required</a:t>
            </a:r>
            <a:endParaRPr lang="en-US" sz="1400" dirty="0"/>
          </a:p>
        </p:txBody>
      </p:sp>
      <p:pic>
        <p:nvPicPr>
          <p:cNvPr id="8" name="Image 0" descr="preencoded.png"/>
          <p:cNvPicPr>
            <a:picLocks noChangeAspect="1"/>
          </p:cNvPicPr>
          <p:nvPr/>
        </p:nvPicPr>
        <p:blipFill>
          <a:blip r:embed="rId1"/>
          <a:stretch>
            <a:fillRect/>
          </a:stretch>
        </p:blipFill>
        <p:spPr>
          <a:xfrm>
            <a:off x="4160520" y="3749040"/>
            <a:ext cx="822960" cy="822960"/>
          </a:xfrm>
          <a:prstGeom prst="rect">
            <a:avLst/>
          </a:prstGeom>
        </p:spPr>
      </p:pic>
      <p:sp>
        <p:nvSpPr>
          <p:cNvPr id="9" name="Text 6"/>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731520" y="274320"/>
            <a:ext cx="7680960" cy="731520"/>
          </a:xfrm>
          <a:prstGeom prst="rect">
            <a:avLst/>
          </a:prstGeom>
          <a:noFill/>
          <a:ln/>
        </p:spPr>
        <p:txBody>
          <a:bodyPr wrap="square" lIns="0" tIns="0" rIns="0" bIns="0" rtlCol="0" anchor="ctr"/>
          <a:lstStyle/>
          <a:p>
            <a:pPr algn="ctr" indent="0" marL="0">
              <a:buNone/>
            </a:pPr>
            <a:r>
              <a:rPr lang="en-US" sz="3600" b="1" dirty="0">
                <a:solidFill>
                  <a:srgbClr val="16213E"/>
                </a:solidFill>
                <a:latin typeface="Georgia" pitchFamily="34" charset="0"/>
                <a:ea typeface="Georgia" pitchFamily="34" charset="-122"/>
                <a:cs typeface="Georgia" pitchFamily="34" charset="-120"/>
              </a:rPr>
              <a:t>What You’ll Learn</a:t>
            </a:r>
            <a:endParaRPr lang="en-US" sz="3600" dirty="0"/>
          </a:p>
        </p:txBody>
      </p:sp>
      <p:sp>
        <p:nvSpPr>
          <p:cNvPr id="4" name="Shape 2"/>
          <p:cNvSpPr/>
          <p:nvPr/>
        </p:nvSpPr>
        <p:spPr>
          <a:xfrm>
            <a:off x="548640" y="118872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5" name="Image 0" descr="preencoded.png"/>
          <p:cNvPicPr>
            <a:picLocks noChangeAspect="1"/>
          </p:cNvPicPr>
          <p:nvPr/>
        </p:nvPicPr>
        <p:blipFill>
          <a:blip r:embed="rId1"/>
          <a:stretch>
            <a:fillRect/>
          </a:stretch>
        </p:blipFill>
        <p:spPr>
          <a:xfrm>
            <a:off x="731520" y="1371600"/>
            <a:ext cx="457200" cy="457200"/>
          </a:xfrm>
          <a:prstGeom prst="rect">
            <a:avLst/>
          </a:prstGeom>
        </p:spPr>
      </p:pic>
      <p:sp>
        <p:nvSpPr>
          <p:cNvPr id="6" name="Text 3"/>
          <p:cNvSpPr/>
          <p:nvPr/>
        </p:nvSpPr>
        <p:spPr>
          <a:xfrm>
            <a:off x="1325880" y="128016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Creating Images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for presentations</a:t>
            </a:r>
            <a:endParaRPr lang="en-US" sz="1400" dirty="0"/>
          </a:p>
        </p:txBody>
      </p:sp>
      <p:sp>
        <p:nvSpPr>
          <p:cNvPr id="7" name="Shape 4"/>
          <p:cNvSpPr/>
          <p:nvPr/>
        </p:nvSpPr>
        <p:spPr>
          <a:xfrm>
            <a:off x="4754880" y="118872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8" name="Image 1" descr="preencoded.png"/>
          <p:cNvPicPr>
            <a:picLocks noChangeAspect="1"/>
          </p:cNvPicPr>
          <p:nvPr/>
        </p:nvPicPr>
        <p:blipFill>
          <a:blip r:embed="rId2"/>
          <a:stretch>
            <a:fillRect/>
          </a:stretch>
        </p:blipFill>
        <p:spPr>
          <a:xfrm>
            <a:off x="4937760" y="1371600"/>
            <a:ext cx="457200" cy="457200"/>
          </a:xfrm>
          <a:prstGeom prst="rect">
            <a:avLst/>
          </a:prstGeom>
        </p:spPr>
      </p:pic>
      <p:sp>
        <p:nvSpPr>
          <p:cNvPr id="9" name="Text 5"/>
          <p:cNvSpPr/>
          <p:nvPr/>
        </p:nvSpPr>
        <p:spPr>
          <a:xfrm>
            <a:off x="5532120" y="128016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Building Presentations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from scratch</a:t>
            </a:r>
            <a:endParaRPr lang="en-US" sz="1400" dirty="0"/>
          </a:p>
        </p:txBody>
      </p:sp>
      <p:sp>
        <p:nvSpPr>
          <p:cNvPr id="10" name="Shape 6"/>
          <p:cNvSpPr/>
          <p:nvPr/>
        </p:nvSpPr>
        <p:spPr>
          <a:xfrm>
            <a:off x="548640" y="214884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1" name="Image 2" descr="preencoded.png"/>
          <p:cNvPicPr>
            <a:picLocks noChangeAspect="1"/>
          </p:cNvPicPr>
          <p:nvPr/>
        </p:nvPicPr>
        <p:blipFill>
          <a:blip r:embed="rId3"/>
          <a:stretch>
            <a:fillRect/>
          </a:stretch>
        </p:blipFill>
        <p:spPr>
          <a:xfrm>
            <a:off x="731520" y="2331720"/>
            <a:ext cx="457200" cy="457200"/>
          </a:xfrm>
          <a:prstGeom prst="rect">
            <a:avLst/>
          </a:prstGeom>
        </p:spPr>
      </p:pic>
      <p:sp>
        <p:nvSpPr>
          <p:cNvPr id="12" name="Text 7"/>
          <p:cNvSpPr/>
          <p:nvPr/>
        </p:nvSpPr>
        <p:spPr>
          <a:xfrm>
            <a:off x="1325880" y="224028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Fetching Data</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and organizing it</a:t>
            </a:r>
            <a:endParaRPr lang="en-US" sz="1400" dirty="0"/>
          </a:p>
        </p:txBody>
      </p:sp>
      <p:sp>
        <p:nvSpPr>
          <p:cNvPr id="13" name="Shape 8"/>
          <p:cNvSpPr/>
          <p:nvPr/>
        </p:nvSpPr>
        <p:spPr>
          <a:xfrm>
            <a:off x="4754880" y="214884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4" name="Image 3" descr="preencoded.png"/>
          <p:cNvPicPr>
            <a:picLocks noChangeAspect="1"/>
          </p:cNvPicPr>
          <p:nvPr/>
        </p:nvPicPr>
        <p:blipFill>
          <a:blip r:embed="rId4"/>
          <a:stretch>
            <a:fillRect/>
          </a:stretch>
        </p:blipFill>
        <p:spPr>
          <a:xfrm>
            <a:off x="4937760" y="2331720"/>
            <a:ext cx="457200" cy="457200"/>
          </a:xfrm>
          <a:prstGeom prst="rect">
            <a:avLst/>
          </a:prstGeom>
        </p:spPr>
      </p:pic>
      <p:sp>
        <p:nvSpPr>
          <p:cNvPr id="15" name="Text 9"/>
          <p:cNvSpPr/>
          <p:nvPr/>
        </p:nvSpPr>
        <p:spPr>
          <a:xfrm>
            <a:off x="5532120" y="224028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Writing Emails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and messages</a:t>
            </a:r>
            <a:endParaRPr lang="en-US" sz="1400" dirty="0"/>
          </a:p>
        </p:txBody>
      </p:sp>
      <p:sp>
        <p:nvSpPr>
          <p:cNvPr id="16" name="Shape 10"/>
          <p:cNvSpPr/>
          <p:nvPr/>
        </p:nvSpPr>
        <p:spPr>
          <a:xfrm>
            <a:off x="548640" y="310896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7" name="Image 4" descr="preencoded.png"/>
          <p:cNvPicPr>
            <a:picLocks noChangeAspect="1"/>
          </p:cNvPicPr>
          <p:nvPr/>
        </p:nvPicPr>
        <p:blipFill>
          <a:blip r:embed="rId5"/>
          <a:stretch>
            <a:fillRect/>
          </a:stretch>
        </p:blipFill>
        <p:spPr>
          <a:xfrm>
            <a:off x="731520" y="3291840"/>
            <a:ext cx="457200" cy="457200"/>
          </a:xfrm>
          <a:prstGeom prst="rect">
            <a:avLst/>
          </a:prstGeom>
        </p:spPr>
      </p:pic>
      <p:sp>
        <p:nvSpPr>
          <p:cNvPr id="18" name="Text 11"/>
          <p:cNvSpPr/>
          <p:nvPr/>
        </p:nvSpPr>
        <p:spPr>
          <a:xfrm>
            <a:off x="1325880" y="320040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Summarizing Documents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and content</a:t>
            </a:r>
            <a:endParaRPr lang="en-US" sz="1400" dirty="0"/>
          </a:p>
        </p:txBody>
      </p:sp>
      <p:sp>
        <p:nvSpPr>
          <p:cNvPr id="19" name="Shape 12"/>
          <p:cNvSpPr/>
          <p:nvPr/>
        </p:nvSpPr>
        <p:spPr>
          <a:xfrm>
            <a:off x="4754880" y="310896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0" name="Image 5" descr="preencoded.png"/>
          <p:cNvPicPr>
            <a:picLocks noChangeAspect="1"/>
          </p:cNvPicPr>
          <p:nvPr/>
        </p:nvPicPr>
        <p:blipFill>
          <a:blip r:embed="rId6"/>
          <a:stretch>
            <a:fillRect/>
          </a:stretch>
        </p:blipFill>
        <p:spPr>
          <a:xfrm>
            <a:off x="4937760" y="3291840"/>
            <a:ext cx="457200" cy="457200"/>
          </a:xfrm>
          <a:prstGeom prst="rect">
            <a:avLst/>
          </a:prstGeom>
        </p:spPr>
      </p:pic>
      <p:sp>
        <p:nvSpPr>
          <p:cNvPr id="21" name="Text 13"/>
          <p:cNvSpPr/>
          <p:nvPr/>
        </p:nvSpPr>
        <p:spPr>
          <a:xfrm>
            <a:off x="5532120" y="320040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Simple Automations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for daily tasks</a:t>
            </a:r>
            <a:endParaRPr lang="en-US" sz="1400" dirty="0"/>
          </a:p>
        </p:txBody>
      </p:sp>
      <p:sp>
        <p:nvSpPr>
          <p:cNvPr id="22" name="Shape 14"/>
          <p:cNvSpPr/>
          <p:nvPr/>
        </p:nvSpPr>
        <p:spPr>
          <a:xfrm>
            <a:off x="548640" y="406908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3" name="Image 6" descr="preencoded.png"/>
          <p:cNvPicPr>
            <a:picLocks noChangeAspect="1"/>
          </p:cNvPicPr>
          <p:nvPr/>
        </p:nvPicPr>
        <p:blipFill>
          <a:blip r:embed="rId7"/>
          <a:stretch>
            <a:fillRect/>
          </a:stretch>
        </p:blipFill>
        <p:spPr>
          <a:xfrm>
            <a:off x="731520" y="4251960"/>
            <a:ext cx="457200" cy="457200"/>
          </a:xfrm>
          <a:prstGeom prst="rect">
            <a:avLst/>
          </a:prstGeom>
        </p:spPr>
      </p:pic>
      <p:sp>
        <p:nvSpPr>
          <p:cNvPr id="24" name="Text 15"/>
          <p:cNvSpPr/>
          <p:nvPr/>
        </p:nvSpPr>
        <p:spPr>
          <a:xfrm>
            <a:off x="1325880" y="416052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Learning Assistance</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and research</a:t>
            </a:r>
            <a:endParaRPr lang="en-US" sz="1400" dirty="0"/>
          </a:p>
        </p:txBody>
      </p:sp>
      <p:sp>
        <p:nvSpPr>
          <p:cNvPr id="25" name="Shape 16"/>
          <p:cNvSpPr/>
          <p:nvPr/>
        </p:nvSpPr>
        <p:spPr>
          <a:xfrm>
            <a:off x="4754880" y="406908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6" name="Image 7" descr="preencoded.png"/>
          <p:cNvPicPr>
            <a:picLocks noChangeAspect="1"/>
          </p:cNvPicPr>
          <p:nvPr/>
        </p:nvPicPr>
        <p:blipFill>
          <a:blip r:embed="rId8"/>
          <a:stretch>
            <a:fillRect/>
          </a:stretch>
        </p:blipFill>
        <p:spPr>
          <a:xfrm>
            <a:off x="4937760" y="4251960"/>
            <a:ext cx="457200" cy="457200"/>
          </a:xfrm>
          <a:prstGeom prst="rect">
            <a:avLst/>
          </a:prstGeom>
        </p:spPr>
      </p:pic>
      <p:sp>
        <p:nvSpPr>
          <p:cNvPr id="27" name="Text 17"/>
          <p:cNvSpPr/>
          <p:nvPr/>
        </p:nvSpPr>
        <p:spPr>
          <a:xfrm>
            <a:off x="5532120" y="4160520"/>
            <a:ext cx="283464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Better Prompts</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tips and tricks</a:t>
            </a:r>
            <a:endParaRPr lang="en-US" sz="1400" dirty="0"/>
          </a:p>
        </p:txBody>
      </p:sp>
      <p:sp>
        <p:nvSpPr>
          <p:cNvPr id="28" name="Text 18"/>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16213E"/>
                </a:solidFill>
                <a:latin typeface="Georgia" pitchFamily="34" charset="0"/>
                <a:ea typeface="Georgia" pitchFamily="34" charset="-122"/>
                <a:cs typeface="Georgia" pitchFamily="34" charset="-120"/>
              </a:rPr>
              <a:t>How Does AI Chat Work?</a:t>
            </a:r>
            <a:endParaRPr lang="en-US" sz="32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Think of AI as a very smart assistant. You give it instructions (a “prompt”), and it gives you a response. The better your instructions, the better the result.</a:t>
            </a:r>
            <a:endParaRPr lang="en-US" sz="1400" dirty="0"/>
          </a:p>
        </p:txBody>
      </p:sp>
      <p:sp>
        <p:nvSpPr>
          <p:cNvPr id="5" name="Shape 3"/>
          <p:cNvSpPr/>
          <p:nvPr/>
        </p:nvSpPr>
        <p:spPr>
          <a:xfrm>
            <a:off x="45720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1417320" y="2103120"/>
            <a:ext cx="640080" cy="640080"/>
          </a:xfrm>
          <a:prstGeom prst="ellipse">
            <a:avLst/>
          </a:prstGeom>
          <a:solidFill>
            <a:srgbClr val="0D9488"/>
          </a:solidFill>
          <a:ln/>
        </p:spPr>
      </p:sp>
      <p:sp>
        <p:nvSpPr>
          <p:cNvPr id="7" name="Text 5"/>
          <p:cNvSpPr/>
          <p:nvPr/>
        </p:nvSpPr>
        <p:spPr>
          <a:xfrm>
            <a:off x="141732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64008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You Write a Prompt</a:t>
            </a:r>
            <a:endParaRPr lang="en-US" sz="1400" dirty="0"/>
          </a:p>
        </p:txBody>
      </p:sp>
      <p:sp>
        <p:nvSpPr>
          <p:cNvPr id="9" name="Text 7"/>
          <p:cNvSpPr/>
          <p:nvPr/>
        </p:nvSpPr>
        <p:spPr>
          <a:xfrm>
            <a:off x="64008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Describe what you need in plain language</a:t>
            </a:r>
            <a:endParaRPr lang="en-US" sz="1200" dirty="0"/>
          </a:p>
        </p:txBody>
      </p:sp>
      <p:sp>
        <p:nvSpPr>
          <p:cNvPr id="10" name="Shape 8"/>
          <p:cNvSpPr/>
          <p:nvPr/>
        </p:nvSpPr>
        <p:spPr>
          <a:xfrm>
            <a:off x="329184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4251960" y="2103120"/>
            <a:ext cx="640080" cy="640080"/>
          </a:xfrm>
          <a:prstGeom prst="ellipse">
            <a:avLst/>
          </a:prstGeom>
          <a:solidFill>
            <a:srgbClr val="0D9488"/>
          </a:solidFill>
          <a:ln/>
        </p:spPr>
      </p:sp>
      <p:sp>
        <p:nvSpPr>
          <p:cNvPr id="12" name="Text 10"/>
          <p:cNvSpPr/>
          <p:nvPr/>
        </p:nvSpPr>
        <p:spPr>
          <a:xfrm>
            <a:off x="425196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347472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AI Processes It</a:t>
            </a:r>
            <a:endParaRPr lang="en-US" sz="1400" dirty="0"/>
          </a:p>
        </p:txBody>
      </p:sp>
      <p:sp>
        <p:nvSpPr>
          <p:cNvPr id="14" name="Text 12"/>
          <p:cNvSpPr/>
          <p:nvPr/>
        </p:nvSpPr>
        <p:spPr>
          <a:xfrm>
            <a:off x="347472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The AI understands context, intent, and details</a:t>
            </a:r>
            <a:endParaRPr lang="en-US" sz="1200" dirty="0"/>
          </a:p>
        </p:txBody>
      </p:sp>
      <p:sp>
        <p:nvSpPr>
          <p:cNvPr id="15" name="Shape 13"/>
          <p:cNvSpPr/>
          <p:nvPr/>
        </p:nvSpPr>
        <p:spPr>
          <a:xfrm>
            <a:off x="612648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7086600" y="2103120"/>
            <a:ext cx="640080" cy="640080"/>
          </a:xfrm>
          <a:prstGeom prst="ellipse">
            <a:avLst/>
          </a:prstGeom>
          <a:solidFill>
            <a:srgbClr val="0D9488"/>
          </a:solidFill>
          <a:ln/>
        </p:spPr>
      </p:sp>
      <p:sp>
        <p:nvSpPr>
          <p:cNvPr id="17" name="Text 15"/>
          <p:cNvSpPr/>
          <p:nvPr/>
        </p:nvSpPr>
        <p:spPr>
          <a:xfrm>
            <a:off x="708660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630936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You Get a Result</a:t>
            </a:r>
            <a:endParaRPr lang="en-US" sz="1400" dirty="0"/>
          </a:p>
        </p:txBody>
      </p:sp>
      <p:sp>
        <p:nvSpPr>
          <p:cNvPr id="19" name="Text 17"/>
          <p:cNvSpPr/>
          <p:nvPr/>
        </p:nvSpPr>
        <p:spPr>
          <a:xfrm>
            <a:off x="630936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Text, data, ideas, or formatted content</a:t>
            </a:r>
            <a:endParaRPr lang="en-US" sz="1200" dirty="0"/>
          </a:p>
        </p:txBody>
      </p:sp>
      <p:pic>
        <p:nvPicPr>
          <p:cNvPr id="20" name="Image 0" descr="preencoded.png"/>
          <p:cNvPicPr>
            <a:picLocks noChangeAspect="1"/>
          </p:cNvPicPr>
          <p:nvPr/>
        </p:nvPicPr>
        <p:blipFill>
          <a:blip r:embed="rId1"/>
          <a:stretch>
            <a:fillRect/>
          </a:stretch>
        </p:blipFill>
        <p:spPr>
          <a:xfrm>
            <a:off x="2788920" y="2651760"/>
            <a:ext cx="320040" cy="320040"/>
          </a:xfrm>
          <a:prstGeom prst="rect">
            <a:avLst/>
          </a:prstGeom>
        </p:spPr>
      </p:pic>
      <p:pic>
        <p:nvPicPr>
          <p:cNvPr id="21" name="Image 1" descr="preencoded.png"/>
          <p:cNvPicPr>
            <a:picLocks noChangeAspect="1"/>
          </p:cNvPicPr>
          <p:nvPr/>
        </p:nvPicPr>
        <p:blipFill>
          <a:blip r:embed="rId2"/>
          <a:stretch>
            <a:fillRect/>
          </a:stretch>
        </p:blipFill>
        <p:spPr>
          <a:xfrm>
            <a:off x="5623560" y="2651760"/>
            <a:ext cx="320040" cy="320040"/>
          </a:xfrm>
          <a:prstGeom prst="rect">
            <a:avLst/>
          </a:prstGeom>
        </p:spPr>
      </p:pic>
      <p:sp>
        <p:nvSpPr>
          <p:cNvPr id="22" name="Text 18"/>
          <p:cNvSpPr/>
          <p:nvPr/>
        </p:nvSpPr>
        <p:spPr>
          <a:xfrm>
            <a:off x="457200" y="4206240"/>
            <a:ext cx="8229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Popular AI Tools: Claude (claude.ai)  •  ChatGPT  •  Microsoft Copilot  •  Google Gemini</a:t>
            </a:r>
            <a:endParaRPr lang="en-US" sz="1100" dirty="0"/>
          </a:p>
        </p:txBody>
      </p:sp>
      <p:sp>
        <p:nvSpPr>
          <p:cNvPr id="23" name="Text 19"/>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Creating Images</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Custom visuals for your presentations in seconds</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Image Generation — Prompts That Work</a:t>
            </a:r>
            <a:endParaRPr lang="en-US" sz="2800" dirty="0"/>
          </a:p>
        </p:txBody>
      </p:sp>
      <p:sp>
        <p:nvSpPr>
          <p:cNvPr id="4" name="Shape 2"/>
          <p:cNvSpPr/>
          <p:nvPr/>
        </p:nvSpPr>
        <p:spPr>
          <a:xfrm>
            <a:off x="457200" y="960120"/>
            <a:ext cx="822960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64008" cy="1234440"/>
          </a:xfrm>
          <a:prstGeom prst="rect">
            <a:avLst/>
          </a:prstGeom>
          <a:solidFill>
            <a:srgbClr val="F59E0B"/>
          </a:solidFill>
          <a:ln/>
        </p:spPr>
      </p:sp>
      <p:sp>
        <p:nvSpPr>
          <p:cNvPr id="6" name="Text 4"/>
          <p:cNvSpPr/>
          <p:nvPr/>
        </p:nvSpPr>
        <p:spPr>
          <a:xfrm>
            <a:off x="731520" y="1005840"/>
            <a:ext cx="77724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Presentation Cover</a:t>
            </a:r>
            <a:endParaRPr lang="en-US" sz="1300" dirty="0"/>
          </a:p>
        </p:txBody>
      </p:sp>
      <p:sp>
        <p:nvSpPr>
          <p:cNvPr id="7" name="Text 5"/>
          <p:cNvSpPr/>
          <p:nvPr/>
        </p:nvSpPr>
        <p:spPr>
          <a:xfrm>
            <a:off x="731520" y="1307592"/>
            <a:ext cx="7772400" cy="5029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“Create a professional illustration for a presentation about cybersecurity. Modern flat design, blue and white tones, shield protecting a laptop. No text.”</a:t>
            </a:r>
            <a:endParaRPr lang="en-US" sz="1100" dirty="0"/>
          </a:p>
        </p:txBody>
      </p:sp>
      <p:pic>
        <p:nvPicPr>
          <p:cNvPr id="8" name="Image 0" descr="preencoded.png"/>
          <p:cNvPicPr>
            <a:picLocks noChangeAspect="1"/>
          </p:cNvPicPr>
          <p:nvPr/>
        </p:nvPicPr>
        <p:blipFill>
          <a:blip r:embed="rId1"/>
          <a:stretch>
            <a:fillRect/>
          </a:stretch>
        </p:blipFill>
        <p:spPr>
          <a:xfrm>
            <a:off x="731520" y="1828800"/>
            <a:ext cx="201168" cy="201168"/>
          </a:xfrm>
          <a:prstGeom prst="rect">
            <a:avLst/>
          </a:prstGeom>
        </p:spPr>
      </p:pic>
      <p:sp>
        <p:nvSpPr>
          <p:cNvPr id="9" name="Text 6"/>
          <p:cNvSpPr/>
          <p:nvPr/>
        </p:nvSpPr>
        <p:spPr>
          <a:xfrm>
            <a:off x="1005840" y="1810512"/>
            <a:ext cx="7315200" cy="274320"/>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Always specify style, colors, and “no text”</a:t>
            </a:r>
            <a:endParaRPr lang="en-US" sz="1000" dirty="0"/>
          </a:p>
        </p:txBody>
      </p:sp>
      <p:sp>
        <p:nvSpPr>
          <p:cNvPr id="10" name="Shape 7"/>
          <p:cNvSpPr/>
          <p:nvPr/>
        </p:nvSpPr>
        <p:spPr>
          <a:xfrm>
            <a:off x="457200" y="2331720"/>
            <a:ext cx="822960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57200" y="2331720"/>
            <a:ext cx="64008" cy="1234440"/>
          </a:xfrm>
          <a:prstGeom prst="rect">
            <a:avLst/>
          </a:prstGeom>
          <a:solidFill>
            <a:srgbClr val="F59E0B"/>
          </a:solidFill>
          <a:ln/>
        </p:spPr>
      </p:sp>
      <p:sp>
        <p:nvSpPr>
          <p:cNvPr id="12" name="Text 9"/>
          <p:cNvSpPr/>
          <p:nvPr/>
        </p:nvSpPr>
        <p:spPr>
          <a:xfrm>
            <a:off x="731520" y="2377440"/>
            <a:ext cx="77724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Consistent Icon Set</a:t>
            </a:r>
            <a:endParaRPr lang="en-US" sz="1300" dirty="0"/>
          </a:p>
        </p:txBody>
      </p:sp>
      <p:sp>
        <p:nvSpPr>
          <p:cNvPr id="13" name="Text 10"/>
          <p:cNvSpPr/>
          <p:nvPr/>
        </p:nvSpPr>
        <p:spPr>
          <a:xfrm>
            <a:off x="731520" y="2679192"/>
            <a:ext cx="7772400" cy="5029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“Generate 4 flat icons: handshake, lightbulb, bar chart, target. Consistent style, navy blue, white background.”</a:t>
            </a:r>
            <a:endParaRPr lang="en-US" sz="1100" dirty="0"/>
          </a:p>
        </p:txBody>
      </p:sp>
      <p:pic>
        <p:nvPicPr>
          <p:cNvPr id="14" name="Image 1" descr="preencoded.png"/>
          <p:cNvPicPr>
            <a:picLocks noChangeAspect="1"/>
          </p:cNvPicPr>
          <p:nvPr/>
        </p:nvPicPr>
        <p:blipFill>
          <a:blip r:embed="rId2"/>
          <a:stretch>
            <a:fillRect/>
          </a:stretch>
        </p:blipFill>
        <p:spPr>
          <a:xfrm>
            <a:off x="731520" y="3200400"/>
            <a:ext cx="201168" cy="201168"/>
          </a:xfrm>
          <a:prstGeom prst="rect">
            <a:avLst/>
          </a:prstGeom>
        </p:spPr>
      </p:pic>
      <p:sp>
        <p:nvSpPr>
          <p:cNvPr id="15" name="Text 11"/>
          <p:cNvSpPr/>
          <p:nvPr/>
        </p:nvSpPr>
        <p:spPr>
          <a:xfrm>
            <a:off x="1005840" y="3182112"/>
            <a:ext cx="7315200" cy="274320"/>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Ask for “consistent style” across icons</a:t>
            </a:r>
            <a:endParaRPr lang="en-US" sz="1000" dirty="0"/>
          </a:p>
        </p:txBody>
      </p:sp>
      <p:sp>
        <p:nvSpPr>
          <p:cNvPr id="16" name="Shape 12"/>
          <p:cNvSpPr/>
          <p:nvPr/>
        </p:nvSpPr>
        <p:spPr>
          <a:xfrm>
            <a:off x="457200" y="3703320"/>
            <a:ext cx="822960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3"/>
          <p:cNvSpPr/>
          <p:nvPr/>
        </p:nvSpPr>
        <p:spPr>
          <a:xfrm>
            <a:off x="457200" y="3703320"/>
            <a:ext cx="64008" cy="1234440"/>
          </a:xfrm>
          <a:prstGeom prst="rect">
            <a:avLst/>
          </a:prstGeom>
          <a:solidFill>
            <a:srgbClr val="F59E0B"/>
          </a:solidFill>
          <a:ln/>
        </p:spPr>
      </p:sp>
      <p:sp>
        <p:nvSpPr>
          <p:cNvPr id="18" name="Text 14"/>
          <p:cNvSpPr/>
          <p:nvPr/>
        </p:nvSpPr>
        <p:spPr>
          <a:xfrm>
            <a:off x="731520" y="3749040"/>
            <a:ext cx="7772400" cy="32004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Process Diagram</a:t>
            </a:r>
            <a:endParaRPr lang="en-US" sz="1300" dirty="0"/>
          </a:p>
        </p:txBody>
      </p:sp>
      <p:sp>
        <p:nvSpPr>
          <p:cNvPr id="19" name="Text 15"/>
          <p:cNvSpPr/>
          <p:nvPr/>
        </p:nvSpPr>
        <p:spPr>
          <a:xfrm>
            <a:off x="731520" y="4050792"/>
            <a:ext cx="7772400" cy="5029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“Show a 4-step flow: Identify → Analyze → Implement → Review. Rounded boxes with arrows, corporate style, green/gray tones.”</a:t>
            </a:r>
            <a:endParaRPr lang="en-US" sz="1100" dirty="0"/>
          </a:p>
        </p:txBody>
      </p:sp>
      <p:pic>
        <p:nvPicPr>
          <p:cNvPr id="20" name="Image 2" descr="preencoded.png"/>
          <p:cNvPicPr>
            <a:picLocks noChangeAspect="1"/>
          </p:cNvPicPr>
          <p:nvPr/>
        </p:nvPicPr>
        <p:blipFill>
          <a:blip r:embed="rId3"/>
          <a:stretch>
            <a:fillRect/>
          </a:stretch>
        </p:blipFill>
        <p:spPr>
          <a:xfrm>
            <a:off x="731520" y="4572000"/>
            <a:ext cx="201168" cy="201168"/>
          </a:xfrm>
          <a:prstGeom prst="rect">
            <a:avLst/>
          </a:prstGeom>
        </p:spPr>
      </p:pic>
      <p:sp>
        <p:nvSpPr>
          <p:cNvPr id="21" name="Text 16"/>
          <p:cNvSpPr/>
          <p:nvPr/>
        </p:nvSpPr>
        <p:spPr>
          <a:xfrm>
            <a:off x="1005840" y="4553712"/>
            <a:ext cx="7315200" cy="274320"/>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Describe the exact layout you want</a:t>
            </a:r>
            <a:endParaRPr lang="en-US" sz="1000" dirty="0"/>
          </a:p>
        </p:txBody>
      </p:sp>
      <p:sp>
        <p:nvSpPr>
          <p:cNvPr id="22" name="Text 17"/>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Building Presentations</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Structure, outline, and draft entire decks with AI</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Presentations — From Idea to Slides</a:t>
            </a:r>
            <a:endParaRPr lang="en-US" sz="2800" dirty="0"/>
          </a:p>
        </p:txBody>
      </p:sp>
      <p:sp>
        <p:nvSpPr>
          <p:cNvPr id="4" name="Shape 2"/>
          <p:cNvSpPr/>
          <p:nvPr/>
        </p:nvSpPr>
        <p:spPr>
          <a:xfrm>
            <a:off x="457200" y="960120"/>
            <a:ext cx="3931920" cy="3474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64008" cy="3474720"/>
          </a:xfrm>
          <a:prstGeom prst="rect">
            <a:avLst/>
          </a:prstGeom>
          <a:solidFill>
            <a:srgbClr val="0D9488"/>
          </a:solidFill>
          <a:ln/>
        </p:spPr>
      </p:sp>
      <p:sp>
        <p:nvSpPr>
          <p:cNvPr id="6" name="Text 4"/>
          <p:cNvSpPr/>
          <p:nvPr/>
        </p:nvSpPr>
        <p:spPr>
          <a:xfrm>
            <a:off x="731520" y="1051560"/>
            <a:ext cx="3474720" cy="32004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Full Presentation Outline</a:t>
            </a:r>
            <a:endParaRPr lang="en-US" sz="1400" dirty="0"/>
          </a:p>
        </p:txBody>
      </p:sp>
      <p:sp>
        <p:nvSpPr>
          <p:cNvPr id="7" name="Text 5"/>
          <p:cNvSpPr/>
          <p:nvPr/>
        </p:nvSpPr>
        <p:spPr>
          <a:xfrm>
            <a:off x="731520" y="1417320"/>
            <a:ext cx="3474720" cy="16459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“Create a 10-slide presentation about ‘Remote Work Best Practices’ for office managers who are not very technical. For each slide, give me: the title, 3–4 bullet points, and a visual suggestion. Keep it simple and practical.”</a:t>
            </a:r>
            <a:endParaRPr lang="en-US" sz="1100" dirty="0"/>
          </a:p>
        </p:txBody>
      </p:sp>
      <p:sp>
        <p:nvSpPr>
          <p:cNvPr id="8" name="Text 6"/>
          <p:cNvSpPr/>
          <p:nvPr/>
        </p:nvSpPr>
        <p:spPr>
          <a:xfrm>
            <a:off x="731520" y="3291840"/>
            <a:ext cx="3474720" cy="7315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xml:space="preserve">What you get: </a:t>
            </a:r>
            <a:pPr indent="0" marL="0">
              <a:buNone/>
            </a:pPr>
            <a:r>
              <a:rPr lang="en-US" sz="1100" dirty="0">
                <a:solidFill>
                  <a:srgbClr val="64748B"/>
                </a:solidFill>
                <a:latin typeface="Calibri" pitchFamily="34" charset="0"/>
                <a:ea typeface="Calibri" pitchFamily="34" charset="-122"/>
                <a:cs typeface="Calibri" pitchFamily="34" charset="-120"/>
              </a:rPr>
              <a:t>A complete structure with content and visual ideas, ready to build into slides.</a:t>
            </a:r>
            <a:endParaRPr lang="en-US" sz="1100" dirty="0"/>
          </a:p>
        </p:txBody>
      </p:sp>
      <p:sp>
        <p:nvSpPr>
          <p:cNvPr id="9" name="Shape 7"/>
          <p:cNvSpPr/>
          <p:nvPr/>
        </p:nvSpPr>
        <p:spPr>
          <a:xfrm>
            <a:off x="4754880" y="96012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754880" y="960120"/>
            <a:ext cx="64008" cy="1600200"/>
          </a:xfrm>
          <a:prstGeom prst="rect">
            <a:avLst/>
          </a:prstGeom>
          <a:solidFill>
            <a:srgbClr val="F59E0B"/>
          </a:solidFill>
          <a:ln/>
        </p:spPr>
      </p:sp>
      <p:sp>
        <p:nvSpPr>
          <p:cNvPr id="11" name="Text 9"/>
          <p:cNvSpPr/>
          <p:nvPr/>
        </p:nvSpPr>
        <p:spPr>
          <a:xfrm>
            <a:off x="5029200" y="1051560"/>
            <a:ext cx="347472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Speaker Notes</a:t>
            </a:r>
            <a:endParaRPr lang="en-US" sz="1400" dirty="0"/>
          </a:p>
        </p:txBody>
      </p:sp>
      <p:sp>
        <p:nvSpPr>
          <p:cNvPr id="12" name="Text 10"/>
          <p:cNvSpPr/>
          <p:nvPr/>
        </p:nvSpPr>
        <p:spPr>
          <a:xfrm>
            <a:off x="5029200" y="1371600"/>
            <a:ext cx="3474720" cy="100584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 have slides: Revenue, Products, Regional, Challenges, Goals. Write 4–5 sentence speaker notes for each in a confident tone.”</a:t>
            </a:r>
            <a:endParaRPr lang="en-US" sz="1100" dirty="0"/>
          </a:p>
        </p:txBody>
      </p:sp>
      <p:sp>
        <p:nvSpPr>
          <p:cNvPr id="13" name="Shape 11"/>
          <p:cNvSpPr/>
          <p:nvPr/>
        </p:nvSpPr>
        <p:spPr>
          <a:xfrm>
            <a:off x="4754880" y="2834640"/>
            <a:ext cx="3931920" cy="1600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754880" y="2834640"/>
            <a:ext cx="64008" cy="1600200"/>
          </a:xfrm>
          <a:prstGeom prst="rect">
            <a:avLst/>
          </a:prstGeom>
          <a:solidFill>
            <a:srgbClr val="E94560"/>
          </a:solidFill>
          <a:ln/>
        </p:spPr>
      </p:sp>
      <p:sp>
        <p:nvSpPr>
          <p:cNvPr id="15" name="Text 13"/>
          <p:cNvSpPr/>
          <p:nvPr/>
        </p:nvSpPr>
        <p:spPr>
          <a:xfrm>
            <a:off x="5029200" y="2926080"/>
            <a:ext cx="3474720" cy="274320"/>
          </a:xfrm>
          <a:prstGeom prst="rect">
            <a:avLst/>
          </a:prstGeom>
          <a:noFill/>
          <a:ln/>
        </p:spPr>
        <p:txBody>
          <a:bodyPr wrap="square" lIns="0" tIns="0" rIns="0" bIns="0" rtlCol="0" anchor="ctr"/>
          <a:lstStyle/>
          <a:p>
            <a:pPr indent="0" marL="0">
              <a:buNone/>
            </a:pPr>
            <a:r>
              <a:rPr lang="en-US" sz="1400" b="1" dirty="0">
                <a:solidFill>
                  <a:srgbClr val="E94560"/>
                </a:solidFill>
                <a:latin typeface="Calibri" pitchFamily="34" charset="0"/>
                <a:ea typeface="Calibri" pitchFamily="34" charset="-122"/>
                <a:cs typeface="Calibri" pitchFamily="34" charset="-120"/>
              </a:rPr>
              <a:t>Document → Slides</a:t>
            </a:r>
            <a:endParaRPr lang="en-US" sz="1400" dirty="0"/>
          </a:p>
        </p:txBody>
      </p:sp>
      <p:sp>
        <p:nvSpPr>
          <p:cNvPr id="16" name="Text 14"/>
          <p:cNvSpPr/>
          <p:nvPr/>
        </p:nvSpPr>
        <p:spPr>
          <a:xfrm>
            <a:off x="5029200" y="3246120"/>
            <a:ext cx="3474720" cy="100584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“Convert my 2-page sustainability report into 7 slides. Extract key points, simplify language, suggest titles.”</a:t>
            </a:r>
            <a:endParaRPr lang="en-US" sz="1100" dirty="0"/>
          </a:p>
        </p:txBody>
      </p:sp>
      <p:sp>
        <p:nvSpPr>
          <p:cNvPr id="17" name="Text 15"/>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Fetching &amp; Organizing Data</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Collect, compare, analyze, and structure information</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Data Tasks — Prompts &amp; Use Cases</a:t>
            </a:r>
            <a:endParaRPr lang="en-US" sz="2800" dirty="0"/>
          </a:p>
        </p:txBody>
      </p:sp>
      <p:sp>
        <p:nvSpPr>
          <p:cNvPr id="4" name="Shape 2"/>
          <p:cNvSpPr/>
          <p:nvPr/>
        </p:nvSpPr>
        <p:spPr>
          <a:xfrm>
            <a:off x="457200" y="9601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64008" cy="1188720"/>
          </a:xfrm>
          <a:prstGeom prst="rect">
            <a:avLst/>
          </a:prstGeom>
          <a:solidFill>
            <a:srgbClr val="0D9488"/>
          </a:solidFill>
          <a:ln/>
        </p:spPr>
      </p:sp>
      <p:sp>
        <p:nvSpPr>
          <p:cNvPr id="6" name="Text 4"/>
          <p:cNvSpPr/>
          <p:nvPr/>
        </p:nvSpPr>
        <p:spPr>
          <a:xfrm>
            <a:off x="731520" y="1033272"/>
            <a:ext cx="77724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Comparison Tables</a:t>
            </a:r>
            <a:endParaRPr lang="en-US" sz="1400" dirty="0"/>
          </a:p>
        </p:txBody>
      </p:sp>
      <p:sp>
        <p:nvSpPr>
          <p:cNvPr id="7" name="Text 5"/>
          <p:cNvSpPr/>
          <p:nvPr/>
        </p:nvSpPr>
        <p:spPr>
          <a:xfrm>
            <a:off x="731520" y="13441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“Create a comparison table of the top 5 project management tools. Compare by: price, ease of use, best for, key features. Format as a clean table.”</a:t>
            </a:r>
            <a:endParaRPr lang="en-US" sz="1100" dirty="0"/>
          </a:p>
        </p:txBody>
      </p:sp>
      <p:sp>
        <p:nvSpPr>
          <p:cNvPr id="8" name="Shape 6"/>
          <p:cNvSpPr/>
          <p:nvPr/>
        </p:nvSpPr>
        <p:spPr>
          <a:xfrm>
            <a:off x="457200" y="23317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57200" y="2331720"/>
            <a:ext cx="64008" cy="1188720"/>
          </a:xfrm>
          <a:prstGeom prst="rect">
            <a:avLst/>
          </a:prstGeom>
          <a:solidFill>
            <a:srgbClr val="F59E0B"/>
          </a:solidFill>
          <a:ln/>
        </p:spPr>
      </p:sp>
      <p:sp>
        <p:nvSpPr>
          <p:cNvPr id="10" name="Text 8"/>
          <p:cNvSpPr/>
          <p:nvPr/>
        </p:nvSpPr>
        <p:spPr>
          <a:xfrm>
            <a:off x="731520" y="2404872"/>
            <a:ext cx="777240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Analyze Feedback</a:t>
            </a:r>
            <a:endParaRPr lang="en-US" sz="1400" dirty="0"/>
          </a:p>
        </p:txBody>
      </p:sp>
      <p:sp>
        <p:nvSpPr>
          <p:cNvPr id="11" name="Text 9"/>
          <p:cNvSpPr/>
          <p:nvPr/>
        </p:nvSpPr>
        <p:spPr>
          <a:xfrm>
            <a:off x="731520" y="27157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“Analyze these customer comments: give me top 3 complaints, top 3 praises, and overall sentiment. [Paste data below]”</a:t>
            </a:r>
            <a:endParaRPr lang="en-US" sz="1100" dirty="0"/>
          </a:p>
        </p:txBody>
      </p:sp>
      <p:sp>
        <p:nvSpPr>
          <p:cNvPr id="12" name="Shape 10"/>
          <p:cNvSpPr/>
          <p:nvPr/>
        </p:nvSpPr>
        <p:spPr>
          <a:xfrm>
            <a:off x="457200" y="37033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457200" y="3703320"/>
            <a:ext cx="64008" cy="1188720"/>
          </a:xfrm>
          <a:prstGeom prst="rect">
            <a:avLst/>
          </a:prstGeom>
          <a:solidFill>
            <a:srgbClr val="E94560"/>
          </a:solidFill>
          <a:ln/>
        </p:spPr>
      </p:sp>
      <p:sp>
        <p:nvSpPr>
          <p:cNvPr id="14" name="Text 12"/>
          <p:cNvSpPr/>
          <p:nvPr/>
        </p:nvSpPr>
        <p:spPr>
          <a:xfrm>
            <a:off x="731520" y="3776472"/>
            <a:ext cx="7772400" cy="274320"/>
          </a:xfrm>
          <a:prstGeom prst="rect">
            <a:avLst/>
          </a:prstGeom>
          <a:noFill/>
          <a:ln/>
        </p:spPr>
        <p:txBody>
          <a:bodyPr wrap="square" lIns="0" tIns="0" rIns="0" bIns="0" rtlCol="0" anchor="ctr"/>
          <a:lstStyle/>
          <a:p>
            <a:pPr indent="0" marL="0">
              <a:buNone/>
            </a:pPr>
            <a:r>
              <a:rPr lang="en-US" sz="1400" b="1" dirty="0">
                <a:solidFill>
                  <a:srgbClr val="E94560"/>
                </a:solidFill>
                <a:latin typeface="Calibri" pitchFamily="34" charset="0"/>
                <a:ea typeface="Calibri" pitchFamily="34" charset="-122"/>
                <a:cs typeface="Calibri" pitchFamily="34" charset="-120"/>
              </a:rPr>
              <a:t>Generate Sample Data</a:t>
            </a:r>
            <a:endParaRPr lang="en-US" sz="1400" dirty="0"/>
          </a:p>
        </p:txBody>
      </p:sp>
      <p:sp>
        <p:nvSpPr>
          <p:cNvPr id="15" name="Text 13"/>
          <p:cNvSpPr/>
          <p:nvPr/>
        </p:nvSpPr>
        <p:spPr>
          <a:xfrm>
            <a:off x="731520" y="40873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“Generate 20 rows of employee data as CSV: Name, Department, Start Date, Salary (30k-90k), Rating (1-5). Ready for Excel.”</a:t>
            </a:r>
            <a:endParaRPr lang="en-US" sz="1100" dirty="0"/>
          </a:p>
        </p:txBody>
      </p:sp>
      <p:pic>
        <p:nvPicPr>
          <p:cNvPr id="16" name="Image 0" descr="preencoded.png"/>
          <p:cNvPicPr>
            <a:picLocks noChangeAspect="1"/>
          </p:cNvPicPr>
          <p:nvPr/>
        </p:nvPicPr>
        <p:blipFill>
          <a:blip r:embed="rId1"/>
          <a:stretch>
            <a:fillRect/>
          </a:stretch>
        </p:blipFill>
        <p:spPr>
          <a:xfrm>
            <a:off x="457200" y="4434840"/>
            <a:ext cx="228600" cy="228600"/>
          </a:xfrm>
          <a:prstGeom prst="rect">
            <a:avLst/>
          </a:prstGeom>
        </p:spPr>
      </p:pic>
      <p:sp>
        <p:nvSpPr>
          <p:cNvPr id="17" name="Text 14"/>
          <p:cNvSpPr/>
          <p:nvPr/>
        </p:nvSpPr>
        <p:spPr>
          <a:xfrm>
            <a:off x="777240" y="4407408"/>
            <a:ext cx="7772400" cy="320040"/>
          </a:xfrm>
          <a:prstGeom prst="rect">
            <a:avLst/>
          </a:prstGeom>
          <a:noFill/>
          <a:ln/>
        </p:spPr>
        <p:txBody>
          <a:bodyPr wrap="square" lIns="0" tIns="0" rIns="0" bIns="0" rtlCol="0" anchor="ctr"/>
          <a:lstStyle/>
          <a:p>
            <a:pPr indent="0" marL="0">
              <a:buNone/>
            </a:pPr>
            <a:r>
              <a:rPr lang="en-US" sz="1100" dirty="0">
                <a:solidFill>
                  <a:srgbClr val="F59E0B"/>
                </a:solidFill>
                <a:latin typeface="Calibri" pitchFamily="34" charset="0"/>
                <a:ea typeface="Calibri" pitchFamily="34" charset="-122"/>
                <a:cs typeface="Calibri" pitchFamily="34" charset="-120"/>
              </a:rPr>
              <a:t>You can upload files (Excel, CSV, PDF) to Claude or ChatGPT and ask AI to analyze or transform your data.</a:t>
            </a:r>
            <a:endParaRPr lang="en-US" sz="1100" dirty="0"/>
          </a:p>
        </p:txBody>
      </p:sp>
      <p:sp>
        <p:nvSpPr>
          <p:cNvPr id="18" name="Text 15"/>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Writing Emails &amp; Messages</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Draft professional communications in seconds</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Emails — The Right Words, Fast</a:t>
            </a:r>
            <a:endParaRPr lang="en-US" sz="2800" dirty="0"/>
          </a:p>
        </p:txBody>
      </p:sp>
      <p:sp>
        <p:nvSpPr>
          <p:cNvPr id="4" name="Shape 2"/>
          <p:cNvSpPr/>
          <p:nvPr/>
        </p:nvSpPr>
        <p:spPr>
          <a:xfrm>
            <a:off x="457200" y="960120"/>
            <a:ext cx="2560320" cy="33832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2560320" cy="54864"/>
          </a:xfrm>
          <a:prstGeom prst="rect">
            <a:avLst/>
          </a:prstGeom>
          <a:solidFill>
            <a:srgbClr val="0D9488"/>
          </a:solidFill>
          <a:ln/>
        </p:spPr>
      </p:sp>
      <p:pic>
        <p:nvPicPr>
          <p:cNvPr id="6" name="Image 0" descr="preencoded.png"/>
          <p:cNvPicPr>
            <a:picLocks noChangeAspect="1"/>
          </p:cNvPicPr>
          <p:nvPr/>
        </p:nvPicPr>
        <p:blipFill>
          <a:blip r:embed="rId1"/>
          <a:stretch>
            <a:fillRect/>
          </a:stretch>
        </p:blipFill>
        <p:spPr>
          <a:xfrm>
            <a:off x="1508760" y="1188720"/>
            <a:ext cx="457200" cy="457200"/>
          </a:xfrm>
          <a:prstGeom prst="rect">
            <a:avLst/>
          </a:prstGeom>
        </p:spPr>
      </p:pic>
      <p:sp>
        <p:nvSpPr>
          <p:cNvPr id="7" name="Text 4"/>
          <p:cNvSpPr/>
          <p:nvPr/>
        </p:nvSpPr>
        <p:spPr>
          <a:xfrm>
            <a:off x="640080" y="1737360"/>
            <a:ext cx="219456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Client Apology</a:t>
            </a:r>
            <a:endParaRPr lang="en-US" sz="1400" dirty="0"/>
          </a:p>
        </p:txBody>
      </p:sp>
      <p:sp>
        <p:nvSpPr>
          <p:cNvPr id="8" name="Text 5"/>
          <p:cNvSpPr/>
          <p:nvPr/>
        </p:nvSpPr>
        <p:spPr>
          <a:xfrm>
            <a:off x="640080" y="2103120"/>
            <a:ext cx="2194560" cy="1554480"/>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“Write an empathetic reply to a client whose order arrived late and damaged. Apologize, offer replacement + 15% discount. Under 150 words.”</a:t>
            </a:r>
            <a:endParaRPr lang="en-US" sz="1000" dirty="0"/>
          </a:p>
        </p:txBody>
      </p:sp>
      <p:pic>
        <p:nvPicPr>
          <p:cNvPr id="9" name="Image 1" descr="preencoded.png"/>
          <p:cNvPicPr>
            <a:picLocks noChangeAspect="1"/>
          </p:cNvPicPr>
          <p:nvPr/>
        </p:nvPicPr>
        <p:blipFill>
          <a:blip r:embed="rId2"/>
          <a:stretch>
            <a:fillRect/>
          </a:stretch>
        </p:blipFill>
        <p:spPr>
          <a:xfrm>
            <a:off x="640080" y="3794760"/>
            <a:ext cx="182880" cy="182880"/>
          </a:xfrm>
          <a:prstGeom prst="rect">
            <a:avLst/>
          </a:prstGeom>
        </p:spPr>
      </p:pic>
      <p:sp>
        <p:nvSpPr>
          <p:cNvPr id="10" name="Text 6"/>
          <p:cNvSpPr/>
          <p:nvPr/>
        </p:nvSpPr>
        <p:spPr>
          <a:xfrm>
            <a:off x="896112" y="3767328"/>
            <a:ext cx="1920240" cy="274320"/>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Include specific details</a:t>
            </a:r>
            <a:endParaRPr lang="en-US" sz="900" dirty="0"/>
          </a:p>
        </p:txBody>
      </p:sp>
      <p:sp>
        <p:nvSpPr>
          <p:cNvPr id="11" name="Shape 7"/>
          <p:cNvSpPr/>
          <p:nvPr/>
        </p:nvSpPr>
        <p:spPr>
          <a:xfrm>
            <a:off x="3291840" y="960120"/>
            <a:ext cx="2560320" cy="33832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8"/>
          <p:cNvSpPr/>
          <p:nvPr/>
        </p:nvSpPr>
        <p:spPr>
          <a:xfrm>
            <a:off x="3291840" y="960120"/>
            <a:ext cx="2560320" cy="54864"/>
          </a:xfrm>
          <a:prstGeom prst="rect">
            <a:avLst/>
          </a:prstGeom>
          <a:solidFill>
            <a:srgbClr val="F59E0B"/>
          </a:solidFill>
          <a:ln/>
        </p:spPr>
      </p:sp>
      <p:pic>
        <p:nvPicPr>
          <p:cNvPr id="13" name="Image 2" descr="preencoded.png"/>
          <p:cNvPicPr>
            <a:picLocks noChangeAspect="1"/>
          </p:cNvPicPr>
          <p:nvPr/>
        </p:nvPicPr>
        <p:blipFill>
          <a:blip r:embed="rId3"/>
          <a:stretch>
            <a:fillRect/>
          </a:stretch>
        </p:blipFill>
        <p:spPr>
          <a:xfrm>
            <a:off x="4343400" y="1188720"/>
            <a:ext cx="457200" cy="457200"/>
          </a:xfrm>
          <a:prstGeom prst="rect">
            <a:avLst/>
          </a:prstGeom>
        </p:spPr>
      </p:pic>
      <p:sp>
        <p:nvSpPr>
          <p:cNvPr id="14" name="Text 9"/>
          <p:cNvSpPr/>
          <p:nvPr/>
        </p:nvSpPr>
        <p:spPr>
          <a:xfrm>
            <a:off x="3474720" y="1737360"/>
            <a:ext cx="219456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Meeting Follow-up</a:t>
            </a:r>
            <a:endParaRPr lang="en-US" sz="1400" dirty="0"/>
          </a:p>
        </p:txBody>
      </p:sp>
      <p:sp>
        <p:nvSpPr>
          <p:cNvPr id="15" name="Text 10"/>
          <p:cNvSpPr/>
          <p:nvPr/>
        </p:nvSpPr>
        <p:spPr>
          <a:xfrm>
            <a:off x="3474720" y="2103120"/>
            <a:ext cx="2194560" cy="1554480"/>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“Follow-up email: campaign launches Mar 15, budget €25k, Sarah leads. Action items: timeline by Friday, audit by Mar 1.”</a:t>
            </a:r>
            <a:endParaRPr lang="en-US" sz="1000" dirty="0"/>
          </a:p>
        </p:txBody>
      </p:sp>
      <p:pic>
        <p:nvPicPr>
          <p:cNvPr id="16" name="Image 3" descr="preencoded.png"/>
          <p:cNvPicPr>
            <a:picLocks noChangeAspect="1"/>
          </p:cNvPicPr>
          <p:nvPr/>
        </p:nvPicPr>
        <p:blipFill>
          <a:blip r:embed="rId4"/>
          <a:stretch>
            <a:fillRect/>
          </a:stretch>
        </p:blipFill>
        <p:spPr>
          <a:xfrm>
            <a:off x="3474720" y="3794760"/>
            <a:ext cx="182880" cy="182880"/>
          </a:xfrm>
          <a:prstGeom prst="rect">
            <a:avLst/>
          </a:prstGeom>
        </p:spPr>
      </p:pic>
      <p:sp>
        <p:nvSpPr>
          <p:cNvPr id="17" name="Text 11"/>
          <p:cNvSpPr/>
          <p:nvPr/>
        </p:nvSpPr>
        <p:spPr>
          <a:xfrm>
            <a:off x="3730752" y="3767328"/>
            <a:ext cx="1920240" cy="274320"/>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List all names and dates</a:t>
            </a:r>
            <a:endParaRPr lang="en-US" sz="900" dirty="0"/>
          </a:p>
        </p:txBody>
      </p:sp>
      <p:sp>
        <p:nvSpPr>
          <p:cNvPr id="18" name="Shape 12"/>
          <p:cNvSpPr/>
          <p:nvPr/>
        </p:nvSpPr>
        <p:spPr>
          <a:xfrm>
            <a:off x="6126480" y="960120"/>
            <a:ext cx="2560320" cy="33832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3"/>
          <p:cNvSpPr/>
          <p:nvPr/>
        </p:nvSpPr>
        <p:spPr>
          <a:xfrm>
            <a:off x="6126480" y="960120"/>
            <a:ext cx="2560320" cy="54864"/>
          </a:xfrm>
          <a:prstGeom prst="rect">
            <a:avLst/>
          </a:prstGeom>
          <a:solidFill>
            <a:srgbClr val="E94560"/>
          </a:solidFill>
          <a:ln/>
        </p:spPr>
      </p:sp>
      <p:pic>
        <p:nvPicPr>
          <p:cNvPr id="20" name="Image 4" descr="preencoded.png"/>
          <p:cNvPicPr>
            <a:picLocks noChangeAspect="1"/>
          </p:cNvPicPr>
          <p:nvPr/>
        </p:nvPicPr>
        <p:blipFill>
          <a:blip r:embed="rId5"/>
          <a:stretch>
            <a:fillRect/>
          </a:stretch>
        </p:blipFill>
        <p:spPr>
          <a:xfrm>
            <a:off x="7178040" y="1188720"/>
            <a:ext cx="457200" cy="457200"/>
          </a:xfrm>
          <a:prstGeom prst="rect">
            <a:avLst/>
          </a:prstGeom>
        </p:spPr>
      </p:pic>
      <p:sp>
        <p:nvSpPr>
          <p:cNvPr id="21" name="Text 14"/>
          <p:cNvSpPr/>
          <p:nvPr/>
        </p:nvSpPr>
        <p:spPr>
          <a:xfrm>
            <a:off x="6309360" y="1737360"/>
            <a:ext cx="219456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Difficult Message</a:t>
            </a:r>
            <a:endParaRPr lang="en-US" sz="1400" dirty="0"/>
          </a:p>
        </p:txBody>
      </p:sp>
      <p:sp>
        <p:nvSpPr>
          <p:cNvPr id="22" name="Text 15"/>
          <p:cNvSpPr/>
          <p:nvPr/>
        </p:nvSpPr>
        <p:spPr>
          <a:xfrm>
            <a:off x="6309360" y="2103120"/>
            <a:ext cx="2194560" cy="1554480"/>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“Message to a colleague missing deadlines. Direct but respectful. Offer support. Warm but firm. For Slack.”</a:t>
            </a:r>
            <a:endParaRPr lang="en-US" sz="1000" dirty="0"/>
          </a:p>
        </p:txBody>
      </p:sp>
      <p:pic>
        <p:nvPicPr>
          <p:cNvPr id="23" name="Image 5" descr="preencoded.png"/>
          <p:cNvPicPr>
            <a:picLocks noChangeAspect="1"/>
          </p:cNvPicPr>
          <p:nvPr/>
        </p:nvPicPr>
        <p:blipFill>
          <a:blip r:embed="rId6"/>
          <a:stretch>
            <a:fillRect/>
          </a:stretch>
        </p:blipFill>
        <p:spPr>
          <a:xfrm>
            <a:off x="6309360" y="3794760"/>
            <a:ext cx="182880" cy="182880"/>
          </a:xfrm>
          <a:prstGeom prst="rect">
            <a:avLst/>
          </a:prstGeom>
        </p:spPr>
      </p:pic>
      <p:sp>
        <p:nvSpPr>
          <p:cNvPr id="24" name="Text 16"/>
          <p:cNvSpPr/>
          <p:nvPr/>
        </p:nvSpPr>
        <p:spPr>
          <a:xfrm>
            <a:off x="6565392" y="3767328"/>
            <a:ext cx="1920240" cy="274320"/>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Describe the tone you want</a:t>
            </a:r>
            <a:endParaRPr lang="en-US" sz="900" dirty="0"/>
          </a:p>
        </p:txBody>
      </p:sp>
      <p:sp>
        <p:nvSpPr>
          <p:cNvPr id="25" name="Text 17"/>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Summarizing Documents</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Turn long texts into concise, actionable summaries</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Summarize Anything — In the Format You Need</a:t>
            </a:r>
            <a:endParaRPr lang="en-US" sz="2800" dirty="0"/>
          </a:p>
        </p:txBody>
      </p:sp>
      <p:sp>
        <p:nvSpPr>
          <p:cNvPr id="4" name="Shape 2"/>
          <p:cNvSpPr/>
          <p:nvPr/>
        </p:nvSpPr>
        <p:spPr>
          <a:xfrm>
            <a:off x="457200" y="9601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64008" cy="1188720"/>
          </a:xfrm>
          <a:prstGeom prst="rect">
            <a:avLst/>
          </a:prstGeom>
          <a:solidFill>
            <a:srgbClr val="0D9488"/>
          </a:solidFill>
          <a:ln/>
        </p:spPr>
      </p:sp>
      <p:sp>
        <p:nvSpPr>
          <p:cNvPr id="6" name="Text 4"/>
          <p:cNvSpPr/>
          <p:nvPr/>
        </p:nvSpPr>
        <p:spPr>
          <a:xfrm>
            <a:off x="731520" y="1033272"/>
            <a:ext cx="77724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Executive Summary</a:t>
            </a:r>
            <a:endParaRPr lang="en-US" sz="1400" dirty="0"/>
          </a:p>
        </p:txBody>
      </p:sp>
      <p:sp>
        <p:nvSpPr>
          <p:cNvPr id="7" name="Text 5"/>
          <p:cNvSpPr/>
          <p:nvPr/>
        </p:nvSpPr>
        <p:spPr>
          <a:xfrm>
            <a:off x="731520" y="13441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“Summarize this report in 3 parts: (1) one-paragraph executive summary (max 5 sentences), (2) key findings as bullet list (max 7), (3) recommended next steps. Simple language for a non-technical manager.”</a:t>
            </a:r>
            <a:endParaRPr lang="en-US" sz="1100" dirty="0"/>
          </a:p>
        </p:txBody>
      </p:sp>
      <p:sp>
        <p:nvSpPr>
          <p:cNvPr id="8" name="Shape 6"/>
          <p:cNvSpPr/>
          <p:nvPr/>
        </p:nvSpPr>
        <p:spPr>
          <a:xfrm>
            <a:off x="457200" y="23317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57200" y="2331720"/>
            <a:ext cx="64008" cy="1188720"/>
          </a:xfrm>
          <a:prstGeom prst="rect">
            <a:avLst/>
          </a:prstGeom>
          <a:solidFill>
            <a:srgbClr val="F59E0B"/>
          </a:solidFill>
          <a:ln/>
        </p:spPr>
      </p:sp>
      <p:sp>
        <p:nvSpPr>
          <p:cNvPr id="10" name="Text 8"/>
          <p:cNvSpPr/>
          <p:nvPr/>
        </p:nvSpPr>
        <p:spPr>
          <a:xfrm>
            <a:off x="731520" y="2404872"/>
            <a:ext cx="777240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Meeting → Action Items</a:t>
            </a:r>
            <a:endParaRPr lang="en-US" sz="1400" dirty="0"/>
          </a:p>
        </p:txBody>
      </p:sp>
      <p:sp>
        <p:nvSpPr>
          <p:cNvPr id="11" name="Text 9"/>
          <p:cNvSpPr/>
          <p:nvPr/>
        </p:nvSpPr>
        <p:spPr>
          <a:xfrm>
            <a:off x="731520" y="27157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“From this meeting transcript, extract: (1) all decisions made, (2) action items with owner and deadline, (3) unresolved questions needing follow-up.”</a:t>
            </a:r>
            <a:endParaRPr lang="en-US" sz="1100" dirty="0"/>
          </a:p>
        </p:txBody>
      </p:sp>
      <p:sp>
        <p:nvSpPr>
          <p:cNvPr id="12" name="Shape 10"/>
          <p:cNvSpPr/>
          <p:nvPr/>
        </p:nvSpPr>
        <p:spPr>
          <a:xfrm>
            <a:off x="457200" y="370332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457200" y="3703320"/>
            <a:ext cx="64008" cy="1188720"/>
          </a:xfrm>
          <a:prstGeom prst="rect">
            <a:avLst/>
          </a:prstGeom>
          <a:solidFill>
            <a:srgbClr val="0F3460"/>
          </a:solidFill>
          <a:ln/>
        </p:spPr>
      </p:sp>
      <p:sp>
        <p:nvSpPr>
          <p:cNvPr id="14" name="Text 12"/>
          <p:cNvSpPr/>
          <p:nvPr/>
        </p:nvSpPr>
        <p:spPr>
          <a:xfrm>
            <a:off x="731520" y="3776472"/>
            <a:ext cx="7772400" cy="274320"/>
          </a:xfrm>
          <a:prstGeom prst="rect">
            <a:avLst/>
          </a:prstGeom>
          <a:noFill/>
          <a:ln/>
        </p:spPr>
        <p:txBody>
          <a:bodyPr wrap="square" lIns="0" tIns="0" rIns="0" bIns="0" rtlCol="0" anchor="ctr"/>
          <a:lstStyle/>
          <a:p>
            <a:pPr indent="0" marL="0">
              <a:buNone/>
            </a:pPr>
            <a:r>
              <a:rPr lang="en-US" sz="1400" b="1" dirty="0">
                <a:solidFill>
                  <a:srgbClr val="0F3460"/>
                </a:solidFill>
                <a:latin typeface="Calibri" pitchFamily="34" charset="0"/>
                <a:ea typeface="Calibri" pitchFamily="34" charset="-122"/>
                <a:cs typeface="Calibri" pitchFamily="34" charset="-120"/>
              </a:rPr>
              <a:t>Simplify Technical Docs</a:t>
            </a:r>
            <a:endParaRPr lang="en-US" sz="1400" dirty="0"/>
          </a:p>
        </p:txBody>
      </p:sp>
      <p:sp>
        <p:nvSpPr>
          <p:cNvPr id="15" name="Text 13"/>
          <p:cNvSpPr/>
          <p:nvPr/>
        </p:nvSpPr>
        <p:spPr>
          <a:xfrm>
            <a:off x="731520" y="4087368"/>
            <a:ext cx="7772400" cy="6858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“Rewrite this IT security policy in plain language for all employees. Avoid jargon. If a technical term is needed, explain it in parentheses. Keep same structure.”</a:t>
            </a:r>
            <a:endParaRPr lang="en-US" sz="1100" dirty="0"/>
          </a:p>
        </p:txBody>
      </p:sp>
      <p:sp>
        <p:nvSpPr>
          <p:cNvPr id="16" name="Text 1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Simple Automations</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Let AI create formulas, templates, and shortcuts for you</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Automate Repetitive Work</a:t>
            </a:r>
            <a:endParaRPr lang="en-US" sz="2800" dirty="0"/>
          </a:p>
        </p:txBody>
      </p:sp>
      <p:sp>
        <p:nvSpPr>
          <p:cNvPr id="4" name="Shape 2"/>
          <p:cNvSpPr/>
          <p:nvPr/>
        </p:nvSpPr>
        <p:spPr>
          <a:xfrm>
            <a:off x="457200" y="960120"/>
            <a:ext cx="39319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60120"/>
            <a:ext cx="64008" cy="2011680"/>
          </a:xfrm>
          <a:prstGeom prst="rect">
            <a:avLst/>
          </a:prstGeom>
          <a:solidFill>
            <a:srgbClr val="0D9488"/>
          </a:solidFill>
          <a:ln/>
        </p:spPr>
      </p:sp>
      <p:sp>
        <p:nvSpPr>
          <p:cNvPr id="6" name="Text 4"/>
          <p:cNvSpPr/>
          <p:nvPr/>
        </p:nvSpPr>
        <p:spPr>
          <a:xfrm>
            <a:off x="731520" y="1051560"/>
            <a:ext cx="347472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Excel / Sheets Formulas</a:t>
            </a:r>
            <a:endParaRPr lang="en-US" sz="1400" dirty="0"/>
          </a:p>
        </p:txBody>
      </p:sp>
      <p:sp>
        <p:nvSpPr>
          <p:cNvPr id="7" name="Text 5"/>
          <p:cNvSpPr/>
          <p:nvPr/>
        </p:nvSpPr>
        <p:spPr>
          <a:xfrm>
            <a:off x="731520" y="1371600"/>
            <a:ext cx="3474720" cy="1371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“Column A = names, B = department, C = sales. I need: total sales per department, highlight sales below 1000 in red, summary with average/min/max. Explain each formula.”</a:t>
            </a:r>
            <a:endParaRPr lang="en-US" sz="1100" dirty="0"/>
          </a:p>
        </p:txBody>
      </p:sp>
      <p:sp>
        <p:nvSpPr>
          <p:cNvPr id="8" name="Shape 6"/>
          <p:cNvSpPr/>
          <p:nvPr/>
        </p:nvSpPr>
        <p:spPr>
          <a:xfrm>
            <a:off x="4754880" y="960120"/>
            <a:ext cx="39319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754880" y="960120"/>
            <a:ext cx="64008" cy="2011680"/>
          </a:xfrm>
          <a:prstGeom prst="rect">
            <a:avLst/>
          </a:prstGeom>
          <a:solidFill>
            <a:srgbClr val="F59E0B"/>
          </a:solidFill>
          <a:ln/>
        </p:spPr>
      </p:sp>
      <p:sp>
        <p:nvSpPr>
          <p:cNvPr id="10" name="Text 8"/>
          <p:cNvSpPr/>
          <p:nvPr/>
        </p:nvSpPr>
        <p:spPr>
          <a:xfrm>
            <a:off x="5029200" y="1051560"/>
            <a:ext cx="347472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File Renaming</a:t>
            </a:r>
            <a:endParaRPr lang="en-US" sz="1400" dirty="0"/>
          </a:p>
        </p:txBody>
      </p:sp>
      <p:sp>
        <p:nvSpPr>
          <p:cNvPr id="11" name="Text 9"/>
          <p:cNvSpPr/>
          <p:nvPr/>
        </p:nvSpPr>
        <p:spPr>
          <a:xfrm>
            <a:off x="5029200" y="1371600"/>
            <a:ext cx="3474720" cy="1371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 have 200 photos named IMG_3847.jpg. Rename them to Vacation_Portugal_001.jpg. Step-by-step for Windows, no extra software.”</a:t>
            </a:r>
            <a:endParaRPr lang="en-US" sz="1100" dirty="0"/>
          </a:p>
        </p:txBody>
      </p:sp>
      <p:sp>
        <p:nvSpPr>
          <p:cNvPr id="12" name="Shape 10"/>
          <p:cNvSpPr/>
          <p:nvPr/>
        </p:nvSpPr>
        <p:spPr>
          <a:xfrm>
            <a:off x="457200" y="320040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457200" y="3200400"/>
            <a:ext cx="64008" cy="1188720"/>
          </a:xfrm>
          <a:prstGeom prst="rect">
            <a:avLst/>
          </a:prstGeom>
          <a:solidFill>
            <a:srgbClr val="E94560"/>
          </a:solidFill>
          <a:ln/>
        </p:spPr>
      </p:sp>
      <p:sp>
        <p:nvSpPr>
          <p:cNvPr id="14" name="Text 12"/>
          <p:cNvSpPr/>
          <p:nvPr/>
        </p:nvSpPr>
        <p:spPr>
          <a:xfrm>
            <a:off x="731520" y="3291840"/>
            <a:ext cx="7772400" cy="274320"/>
          </a:xfrm>
          <a:prstGeom prst="rect">
            <a:avLst/>
          </a:prstGeom>
          <a:noFill/>
          <a:ln/>
        </p:spPr>
        <p:txBody>
          <a:bodyPr wrap="square" lIns="0" tIns="0" rIns="0" bIns="0" rtlCol="0" anchor="ctr"/>
          <a:lstStyle/>
          <a:p>
            <a:pPr indent="0" marL="0">
              <a:buNone/>
            </a:pPr>
            <a:r>
              <a:rPr lang="en-US" sz="1400" b="1" dirty="0">
                <a:solidFill>
                  <a:srgbClr val="E94560"/>
                </a:solidFill>
                <a:latin typeface="Calibri" pitchFamily="34" charset="0"/>
                <a:ea typeface="Calibri" pitchFamily="34" charset="-122"/>
                <a:cs typeface="Calibri" pitchFamily="34" charset="-120"/>
              </a:rPr>
              <a:t>Reusable Email Templates</a:t>
            </a:r>
            <a:endParaRPr lang="en-US" sz="1400" dirty="0"/>
          </a:p>
        </p:txBody>
      </p:sp>
      <p:sp>
        <p:nvSpPr>
          <p:cNvPr id="15" name="Text 13"/>
          <p:cNvSpPr/>
          <p:nvPr/>
        </p:nvSpPr>
        <p:spPr>
          <a:xfrm>
            <a:off x="731520" y="3611880"/>
            <a:ext cx="777240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 send the same email to new clients weekly. Only the client name, company, meeting date, and link change. Create a Gmail template with those 4 fields, plus a pre-send checklist.”</a:t>
            </a:r>
            <a:endParaRPr lang="en-US" sz="1100" dirty="0"/>
          </a:p>
        </p:txBody>
      </p:sp>
      <p:sp>
        <p:nvSpPr>
          <p:cNvPr id="16" name="Text 1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0F3460">
              <a:alpha val="40000"/>
            </a:srgbClr>
          </a:solidFill>
          <a:ln/>
        </p:spPr>
      </p:sp>
      <p:sp>
        <p:nvSpPr>
          <p:cNvPr id="3" name="Shape 1"/>
          <p:cNvSpPr/>
          <p:nvPr/>
        </p:nvSpPr>
        <p:spPr>
          <a:xfrm>
            <a:off x="6858000" y="3200400"/>
            <a:ext cx="3200400" cy="3200400"/>
          </a:xfrm>
          <a:prstGeom prst="ellipse">
            <a:avLst/>
          </a:prstGeom>
          <a:solidFill>
            <a:srgbClr val="0D9488">
              <a:alpha val="30000"/>
            </a:srgbClr>
          </a:solidFill>
          <a:ln/>
        </p:spPr>
      </p:sp>
      <p:pic>
        <p:nvPicPr>
          <p:cNvPr id="4" name="Image 0" descr="preencoded.png"/>
          <p:cNvPicPr>
            <a:picLocks noChangeAspect="1"/>
          </p:cNvPicPr>
          <p:nvPr/>
        </p:nvPicPr>
        <p:blipFill>
          <a:blip r:embed="rId1"/>
          <a:stretch>
            <a:fillRect/>
          </a:stretch>
        </p:blipFill>
        <p:spPr>
          <a:xfrm>
            <a:off x="4023360" y="914400"/>
            <a:ext cx="1097280" cy="1097280"/>
          </a:xfrm>
          <a:prstGeom prst="rect">
            <a:avLst/>
          </a:prstGeom>
        </p:spPr>
      </p:pic>
      <p:sp>
        <p:nvSpPr>
          <p:cNvPr id="5" name="Text 2"/>
          <p:cNvSpPr/>
          <p:nvPr/>
        </p:nvSpPr>
        <p:spPr>
          <a:xfrm>
            <a:off x="731520" y="2194560"/>
            <a:ext cx="768096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Learning &amp; Research</a:t>
            </a:r>
            <a:endParaRPr lang="en-US" sz="4000" dirty="0"/>
          </a:p>
        </p:txBody>
      </p:sp>
      <p:sp>
        <p:nvSpPr>
          <p:cNvPr id="6" name="Text 3"/>
          <p:cNvSpPr/>
          <p:nvPr/>
        </p:nvSpPr>
        <p:spPr>
          <a:xfrm>
            <a:off x="1371600" y="3200400"/>
            <a:ext cx="6400800" cy="54864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AI as your patient, always-available tutor</a:t>
            </a:r>
            <a:endParaRPr lang="en-US" sz="1600" dirty="0"/>
          </a:p>
        </p:txBody>
      </p:sp>
      <p:sp>
        <p:nvSpPr>
          <p:cNvPr id="7" name="Text 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7F8C9B"/>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4560"/>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The Secret: Write Better Prompts</a:t>
            </a:r>
            <a:endParaRPr lang="en-US" sz="2800" dirty="0"/>
          </a:p>
        </p:txBody>
      </p:sp>
      <p:sp>
        <p:nvSpPr>
          <p:cNvPr id="4" name="Shape 2"/>
          <p:cNvSpPr/>
          <p:nvPr/>
        </p:nvSpPr>
        <p:spPr>
          <a:xfrm>
            <a:off x="457200" y="868680"/>
            <a:ext cx="8229600" cy="640080"/>
          </a:xfrm>
          <a:prstGeom prst="rect">
            <a:avLst/>
          </a:prstGeom>
          <a:solidFill>
            <a:srgbClr val="0D9488"/>
          </a:solidFill>
          <a:ln/>
        </p:spPr>
      </p:sp>
      <p:pic>
        <p:nvPicPr>
          <p:cNvPr id="5" name="Image 0" descr="preencoded.png"/>
          <p:cNvPicPr>
            <a:picLocks noChangeAspect="1"/>
          </p:cNvPicPr>
          <p:nvPr/>
        </p:nvPicPr>
        <p:blipFill>
          <a:blip r:embed="rId1"/>
          <a:stretch>
            <a:fillRect/>
          </a:stretch>
        </p:blipFill>
        <p:spPr>
          <a:xfrm>
            <a:off x="731520" y="987552"/>
            <a:ext cx="365760" cy="365760"/>
          </a:xfrm>
          <a:prstGeom prst="rect">
            <a:avLst/>
          </a:prstGeom>
        </p:spPr>
      </p:pic>
      <p:sp>
        <p:nvSpPr>
          <p:cNvPr id="6" name="Text 3"/>
          <p:cNvSpPr/>
          <p:nvPr/>
        </p:nvSpPr>
        <p:spPr>
          <a:xfrm>
            <a:off x="1188720" y="868680"/>
            <a:ext cx="7315200" cy="6400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The Formula:  Role  +  Task  +  Context  +  Format  +  Constraints</a:t>
            </a:r>
            <a:endParaRPr lang="en-US" sz="1600" dirty="0"/>
          </a:p>
        </p:txBody>
      </p:sp>
      <p:sp>
        <p:nvSpPr>
          <p:cNvPr id="7" name="Shape 4"/>
          <p:cNvSpPr/>
          <p:nvPr/>
        </p:nvSpPr>
        <p:spPr>
          <a:xfrm>
            <a:off x="457200" y="169164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8" name="Image 1" descr="preencoded.png"/>
          <p:cNvPicPr>
            <a:picLocks noChangeAspect="1"/>
          </p:cNvPicPr>
          <p:nvPr/>
        </p:nvPicPr>
        <p:blipFill>
          <a:blip r:embed="rId2"/>
          <a:stretch>
            <a:fillRect/>
          </a:stretch>
        </p:blipFill>
        <p:spPr>
          <a:xfrm>
            <a:off x="594360" y="1856232"/>
            <a:ext cx="320040" cy="320040"/>
          </a:xfrm>
          <a:prstGeom prst="rect">
            <a:avLst/>
          </a:prstGeom>
        </p:spPr>
      </p:pic>
      <p:sp>
        <p:nvSpPr>
          <p:cNvPr id="9" name="Text 5"/>
          <p:cNvSpPr/>
          <p:nvPr/>
        </p:nvSpPr>
        <p:spPr>
          <a:xfrm>
            <a:off x="1005840" y="173736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Be Specific</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Not “Write an email” but “Apology email to client, offer 10% discount”</a:t>
            </a:r>
            <a:endParaRPr lang="en-US" sz="1200" dirty="0"/>
          </a:p>
        </p:txBody>
      </p:sp>
      <p:sp>
        <p:nvSpPr>
          <p:cNvPr id="10" name="Shape 6"/>
          <p:cNvSpPr/>
          <p:nvPr/>
        </p:nvSpPr>
        <p:spPr>
          <a:xfrm>
            <a:off x="4663440" y="169164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1" name="Image 2" descr="preencoded.png"/>
          <p:cNvPicPr>
            <a:picLocks noChangeAspect="1"/>
          </p:cNvPicPr>
          <p:nvPr/>
        </p:nvPicPr>
        <p:blipFill>
          <a:blip r:embed="rId3"/>
          <a:stretch>
            <a:fillRect/>
          </a:stretch>
        </p:blipFill>
        <p:spPr>
          <a:xfrm>
            <a:off x="4800600" y="1856232"/>
            <a:ext cx="320040" cy="320040"/>
          </a:xfrm>
          <a:prstGeom prst="rect">
            <a:avLst/>
          </a:prstGeom>
        </p:spPr>
      </p:pic>
      <p:sp>
        <p:nvSpPr>
          <p:cNvPr id="12" name="Text 7"/>
          <p:cNvSpPr/>
          <p:nvPr/>
        </p:nvSpPr>
        <p:spPr>
          <a:xfrm>
            <a:off x="5212080" y="173736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Define Audience</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“For non-technical managers” or “for a 10-year-old”</a:t>
            </a:r>
            <a:endParaRPr lang="en-US" sz="1200" dirty="0"/>
          </a:p>
        </p:txBody>
      </p:sp>
      <p:sp>
        <p:nvSpPr>
          <p:cNvPr id="13" name="Shape 8"/>
          <p:cNvSpPr/>
          <p:nvPr/>
        </p:nvSpPr>
        <p:spPr>
          <a:xfrm>
            <a:off x="457200" y="251460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4" name="Image 3" descr="preencoded.png"/>
          <p:cNvPicPr>
            <a:picLocks noChangeAspect="1"/>
          </p:cNvPicPr>
          <p:nvPr/>
        </p:nvPicPr>
        <p:blipFill>
          <a:blip r:embed="rId4"/>
          <a:stretch>
            <a:fillRect/>
          </a:stretch>
        </p:blipFill>
        <p:spPr>
          <a:xfrm>
            <a:off x="594360" y="2679192"/>
            <a:ext cx="320040" cy="320040"/>
          </a:xfrm>
          <a:prstGeom prst="rect">
            <a:avLst/>
          </a:prstGeom>
        </p:spPr>
      </p:pic>
      <p:sp>
        <p:nvSpPr>
          <p:cNvPr id="15" name="Text 9"/>
          <p:cNvSpPr/>
          <p:nvPr/>
        </p:nvSpPr>
        <p:spPr>
          <a:xfrm>
            <a:off x="1005840" y="256032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Set the Format</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“As a table”, “in 3 paragraphs”, “as a step-by-step guide”</a:t>
            </a:r>
            <a:endParaRPr lang="en-US" sz="1200" dirty="0"/>
          </a:p>
        </p:txBody>
      </p:sp>
      <p:sp>
        <p:nvSpPr>
          <p:cNvPr id="16" name="Shape 10"/>
          <p:cNvSpPr/>
          <p:nvPr/>
        </p:nvSpPr>
        <p:spPr>
          <a:xfrm>
            <a:off x="4663440" y="251460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7" name="Image 4" descr="preencoded.png"/>
          <p:cNvPicPr>
            <a:picLocks noChangeAspect="1"/>
          </p:cNvPicPr>
          <p:nvPr/>
        </p:nvPicPr>
        <p:blipFill>
          <a:blip r:embed="rId5"/>
          <a:stretch>
            <a:fillRect/>
          </a:stretch>
        </p:blipFill>
        <p:spPr>
          <a:xfrm>
            <a:off x="4800600" y="2679192"/>
            <a:ext cx="320040" cy="320040"/>
          </a:xfrm>
          <a:prstGeom prst="rect">
            <a:avLst/>
          </a:prstGeom>
        </p:spPr>
      </p:pic>
      <p:sp>
        <p:nvSpPr>
          <p:cNvPr id="18" name="Text 11"/>
          <p:cNvSpPr/>
          <p:nvPr/>
        </p:nvSpPr>
        <p:spPr>
          <a:xfrm>
            <a:off x="5212080" y="256032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Give Context</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“I’m a small business owner” or “for a team of 20”</a:t>
            </a:r>
            <a:endParaRPr lang="en-US" sz="1200" dirty="0"/>
          </a:p>
        </p:txBody>
      </p:sp>
      <p:sp>
        <p:nvSpPr>
          <p:cNvPr id="19" name="Shape 12"/>
          <p:cNvSpPr/>
          <p:nvPr/>
        </p:nvSpPr>
        <p:spPr>
          <a:xfrm>
            <a:off x="457200" y="333756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0" name="Image 5" descr="preencoded.png"/>
          <p:cNvPicPr>
            <a:picLocks noChangeAspect="1"/>
          </p:cNvPicPr>
          <p:nvPr/>
        </p:nvPicPr>
        <p:blipFill>
          <a:blip r:embed="rId6"/>
          <a:stretch>
            <a:fillRect/>
          </a:stretch>
        </p:blipFill>
        <p:spPr>
          <a:xfrm>
            <a:off x="594360" y="3502152"/>
            <a:ext cx="320040" cy="320040"/>
          </a:xfrm>
          <a:prstGeom prst="rect">
            <a:avLst/>
          </a:prstGeom>
        </p:spPr>
      </p:pic>
      <p:sp>
        <p:nvSpPr>
          <p:cNvPr id="21" name="Text 13"/>
          <p:cNvSpPr/>
          <p:nvPr/>
        </p:nvSpPr>
        <p:spPr>
          <a:xfrm>
            <a:off x="1005840" y="338328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Set Constraints</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“Under 200 words”, “formal tone”, “only EU regulations”</a:t>
            </a:r>
            <a:endParaRPr lang="en-US" sz="1200" dirty="0"/>
          </a:p>
        </p:txBody>
      </p:sp>
      <p:sp>
        <p:nvSpPr>
          <p:cNvPr id="22" name="Shape 14"/>
          <p:cNvSpPr/>
          <p:nvPr/>
        </p:nvSpPr>
        <p:spPr>
          <a:xfrm>
            <a:off x="4663440" y="333756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3" name="Image 6" descr="preencoded.png"/>
          <p:cNvPicPr>
            <a:picLocks noChangeAspect="1"/>
          </p:cNvPicPr>
          <p:nvPr/>
        </p:nvPicPr>
        <p:blipFill>
          <a:blip r:embed="rId7"/>
          <a:stretch>
            <a:fillRect/>
          </a:stretch>
        </p:blipFill>
        <p:spPr>
          <a:xfrm>
            <a:off x="4800600" y="3502152"/>
            <a:ext cx="320040" cy="320040"/>
          </a:xfrm>
          <a:prstGeom prst="rect">
            <a:avLst/>
          </a:prstGeom>
        </p:spPr>
      </p:pic>
      <p:sp>
        <p:nvSpPr>
          <p:cNvPr id="24" name="Text 15"/>
          <p:cNvSpPr/>
          <p:nvPr/>
        </p:nvSpPr>
        <p:spPr>
          <a:xfrm>
            <a:off x="5212080" y="338328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Assign a Role</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“Act as a marketing expert” or “You are a patient teacher”</a:t>
            </a:r>
            <a:endParaRPr lang="en-US" sz="1200" dirty="0"/>
          </a:p>
        </p:txBody>
      </p:sp>
      <p:sp>
        <p:nvSpPr>
          <p:cNvPr id="25" name="Shape 16"/>
          <p:cNvSpPr/>
          <p:nvPr/>
        </p:nvSpPr>
        <p:spPr>
          <a:xfrm>
            <a:off x="457200" y="416052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6" name="Image 7" descr="preencoded.png"/>
          <p:cNvPicPr>
            <a:picLocks noChangeAspect="1"/>
          </p:cNvPicPr>
          <p:nvPr/>
        </p:nvPicPr>
        <p:blipFill>
          <a:blip r:embed="rId8"/>
          <a:stretch>
            <a:fillRect/>
          </a:stretch>
        </p:blipFill>
        <p:spPr>
          <a:xfrm>
            <a:off x="594360" y="4325112"/>
            <a:ext cx="320040" cy="320040"/>
          </a:xfrm>
          <a:prstGeom prst="rect">
            <a:avLst/>
          </a:prstGeom>
        </p:spPr>
      </p:pic>
      <p:sp>
        <p:nvSpPr>
          <p:cNvPr id="27" name="Text 17"/>
          <p:cNvSpPr/>
          <p:nvPr/>
        </p:nvSpPr>
        <p:spPr>
          <a:xfrm>
            <a:off x="1005840" y="420624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Give Examples</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“Here’s the style I like: [example]. Write similar.”</a:t>
            </a:r>
            <a:endParaRPr lang="en-US" sz="1200" dirty="0"/>
          </a:p>
        </p:txBody>
      </p:sp>
      <p:sp>
        <p:nvSpPr>
          <p:cNvPr id="28" name="Shape 18"/>
          <p:cNvSpPr/>
          <p:nvPr/>
        </p:nvSpPr>
        <p:spPr>
          <a:xfrm>
            <a:off x="4663440" y="4160520"/>
            <a:ext cx="3840480" cy="68580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9" name="Image 8" descr="preencoded.png"/>
          <p:cNvPicPr>
            <a:picLocks noChangeAspect="1"/>
          </p:cNvPicPr>
          <p:nvPr/>
        </p:nvPicPr>
        <p:blipFill>
          <a:blip r:embed="rId9"/>
          <a:stretch>
            <a:fillRect/>
          </a:stretch>
        </p:blipFill>
        <p:spPr>
          <a:xfrm>
            <a:off x="4800600" y="4325112"/>
            <a:ext cx="320040" cy="320040"/>
          </a:xfrm>
          <a:prstGeom prst="rect">
            <a:avLst/>
          </a:prstGeom>
        </p:spPr>
      </p:pic>
      <p:sp>
        <p:nvSpPr>
          <p:cNvPr id="30" name="Text 19"/>
          <p:cNvSpPr/>
          <p:nvPr/>
        </p:nvSpPr>
        <p:spPr>
          <a:xfrm>
            <a:off x="5212080" y="4206240"/>
            <a:ext cx="310896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Iterate!</a:t>
            </a:r>
            <a:endParaRPr lang="en-US" sz="1200" dirty="0"/>
          </a:p>
          <a:p>
            <a:pPr indent="0" marL="0">
              <a:buNone/>
            </a:pPr>
            <a:r>
              <a:rPr lang="en-US" sz="1000" dirty="0">
                <a:solidFill>
                  <a:srgbClr val="64748B"/>
                </a:solidFill>
                <a:latin typeface="Calibri" pitchFamily="34" charset="0"/>
                <a:ea typeface="Calibri" pitchFamily="34" charset="-122"/>
                <a:cs typeface="Calibri" pitchFamily="34" charset="-120"/>
              </a:rPr>
              <a:t>“Make it shorter”, “Simpler language”, “Add an example”</a:t>
            </a:r>
            <a:endParaRPr lang="en-US" sz="1200" dirty="0"/>
          </a:p>
        </p:txBody>
      </p:sp>
      <p:sp>
        <p:nvSpPr>
          <p:cNvPr id="31" name="Text 20"/>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14400" y="1828800"/>
            <a:ext cx="3657600" cy="3657600"/>
          </a:xfrm>
          <a:prstGeom prst="ellipse">
            <a:avLst/>
          </a:prstGeom>
          <a:solidFill>
            <a:srgbClr val="0D9488">
              <a:alpha val="25000"/>
            </a:srgbClr>
          </a:solidFill>
          <a:ln/>
        </p:spPr>
      </p:sp>
      <p:sp>
        <p:nvSpPr>
          <p:cNvPr id="3" name="Shape 1"/>
          <p:cNvSpPr/>
          <p:nvPr/>
        </p:nvSpPr>
        <p:spPr>
          <a:xfrm>
            <a:off x="6400800" y="-914400"/>
            <a:ext cx="3657600" cy="3657600"/>
          </a:xfrm>
          <a:prstGeom prst="ellipse">
            <a:avLst/>
          </a:prstGeom>
          <a:solidFill>
            <a:srgbClr val="E94560">
              <a:alpha val="20000"/>
            </a:srgbClr>
          </a:solidFill>
          <a:ln/>
        </p:spPr>
      </p:sp>
      <p:pic>
        <p:nvPicPr>
          <p:cNvPr id="4" name="Image 0" descr="preencoded.png"/>
          <p:cNvPicPr>
            <a:picLocks noChangeAspect="1"/>
          </p:cNvPicPr>
          <p:nvPr/>
        </p:nvPicPr>
        <p:blipFill>
          <a:blip r:embed="rId1"/>
          <a:stretch>
            <a:fillRect/>
          </a:stretch>
        </p:blipFill>
        <p:spPr>
          <a:xfrm>
            <a:off x="4114800" y="914400"/>
            <a:ext cx="914400" cy="914400"/>
          </a:xfrm>
          <a:prstGeom prst="rect">
            <a:avLst/>
          </a:prstGeom>
        </p:spPr>
      </p:pic>
      <p:sp>
        <p:nvSpPr>
          <p:cNvPr id="5" name="Text 2"/>
          <p:cNvSpPr/>
          <p:nvPr/>
        </p:nvSpPr>
        <p:spPr>
          <a:xfrm>
            <a:off x="914400" y="1920240"/>
            <a:ext cx="73152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Start Experimenting!</a:t>
            </a:r>
            <a:endParaRPr lang="en-US" sz="4200" dirty="0"/>
          </a:p>
        </p:txBody>
      </p:sp>
      <p:sp>
        <p:nvSpPr>
          <p:cNvPr id="6" name="Text 3"/>
          <p:cNvSpPr/>
          <p:nvPr/>
        </p:nvSpPr>
        <p:spPr>
          <a:xfrm>
            <a:off x="1371600" y="2834640"/>
            <a:ext cx="6400800" cy="73152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The better you communicate what you need,</a:t>
            </a:r>
            <a:endParaRPr lang="en-US" sz="1600" dirty="0"/>
          </a:p>
          <a:p>
            <a:pPr algn="ctr" indent="0" marL="0">
              <a:buNone/>
            </a:pPr>
            <a:r>
              <a:rPr lang="en-US" sz="1600" dirty="0">
                <a:solidFill>
                  <a:srgbClr val="14B8A6"/>
                </a:solidFill>
                <a:latin typeface="Calibri" pitchFamily="34" charset="0"/>
                <a:ea typeface="Calibri" pitchFamily="34" charset="-122"/>
                <a:cs typeface="Calibri" pitchFamily="34" charset="-120"/>
              </a:rPr>
              <a:t>the better results you’ll get.</a:t>
            </a:r>
            <a:endParaRPr lang="en-US" sz="1600" dirty="0"/>
          </a:p>
        </p:txBody>
      </p:sp>
      <p:sp>
        <p:nvSpPr>
          <p:cNvPr id="7" name="Text 4"/>
          <p:cNvSpPr/>
          <p:nvPr/>
        </p:nvSpPr>
        <p:spPr>
          <a:xfrm>
            <a:off x="1371600" y="3566160"/>
            <a:ext cx="6400800" cy="45720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There are no “wrong” prompts. Every interaction is a learning opportunity.</a:t>
            </a:r>
            <a:endParaRPr lang="en-US" sz="1300" dirty="0"/>
          </a:p>
        </p:txBody>
      </p:sp>
      <p:sp>
        <p:nvSpPr>
          <p:cNvPr id="8" name="Text 5"/>
          <p:cNvSpPr/>
          <p:nvPr/>
        </p:nvSpPr>
        <p:spPr>
          <a:xfrm>
            <a:off x="1371600" y="4206240"/>
            <a:ext cx="6400800" cy="365760"/>
          </a:xfrm>
          <a:prstGeom prst="rect">
            <a:avLst/>
          </a:prstGeom>
          <a:noFill/>
          <a:ln/>
        </p:spPr>
        <p:txBody>
          <a:bodyPr wrap="square" rtlCol="0" anchor="ctr"/>
          <a:lstStyle/>
          <a:p>
            <a:pPr algn="ctr" indent="0" marL="0">
              <a:buNone/>
            </a:pPr>
            <a:r>
              <a:rPr lang="en-US" sz="1100" dirty="0">
                <a:solidFill>
                  <a:srgbClr val="7F8C9B"/>
                </a:solidFill>
                <a:latin typeface="Calibri" pitchFamily="34" charset="0"/>
                <a:ea typeface="Calibri" pitchFamily="34" charset="-122"/>
                <a:cs typeface="Calibri" pitchFamily="34" charset="-120"/>
              </a:rPr>
              <a:t>Refer to the full guide document for all examples with detailed explanations</a:t>
            </a:r>
            <a:endParaRPr lang="en-US" sz="1100" dirty="0"/>
          </a:p>
        </p:txBody>
      </p:sp>
      <p:sp>
        <p:nvSpPr>
          <p:cNvPr id="9" name="Text 6"/>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AI Skills - A Beginner-Friendly Guide</dc:title>
  <dc:subject>PptxGenJS Presentation</dc:subject>
  <dc:creator>AI Skills Guide</dc:creator>
  <cp:lastModifiedBy>AI Skills Guide</cp:lastModifiedBy>
  <cp:revision>1</cp:revision>
  <dcterms:created xsi:type="dcterms:W3CDTF">2026-02-27T22:32:31Z</dcterms:created>
  <dcterms:modified xsi:type="dcterms:W3CDTF">2026-02-27T22:32:31Z</dcterms:modified>
</cp:coreProperties>
</file>